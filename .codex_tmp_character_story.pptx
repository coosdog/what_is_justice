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</p:sldIdLst>
  <p:sldSz cx="24384000" cy="13716000"/>
  <p:notesSz cx="6858000" cy="9144000"/>
  <p:embeddedFontLst>
    <p:embeddedFont>
      <p:font typeface="Pretendard Bold" panose="020B0604020202020204" charset="-127"/>
      <p:bold r:id="rId16"/>
    </p:embeddedFont>
    <p:embeddedFont>
      <p:font typeface="Pretendard Regular" panose="020B0604020202020204" charset="-127"/>
      <p:regular r:id="rId17"/>
    </p:embeddedFont>
    <p:embeddedFont>
      <p:font typeface="Pretendard SemiBold" panose="020B0604020202020204" charset="-127"/>
      <p:bold r:id="rId18"/>
    </p:embeddedFont>
    <p:embeddedFont>
      <p:font typeface="Libre Bodoni Regular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9BBB59"/>
    <a:srgbClr val="00B0F0"/>
    <a:srgbClr val="FF9999"/>
    <a:srgbClr val="FFFF99"/>
    <a:srgbClr val="D4D4D4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CEA1E7-FE97-4F69-9D98-6F17D8311E21}" v="7" dt="2026-05-07T06:39:53.385"/>
    <p1510:client id="{31AF5275-E28A-471E-8616-2208F590C8F1}" v="6" dt="2026-05-07T06:42:45.972"/>
    <p1510:client id="{3B9059C8-FE00-4038-96BC-1121471BA399}" v="19" dt="2026-05-06T09:06:39.674"/>
    <p1510:client id="{6DFBD4CA-DDD4-4EC1-BE8B-65C2CBDCFF4E}" v="710" dt="2026-05-07T06:47:37.530"/>
    <p1510:client id="{FBDFF6FF-E098-4048-8D36-2411C135F75D}" v="4" dt="2026-05-06T11:18:02.1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64455E6-E768-164E-ED78-7025FE036A5B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089400" y="4686300"/>
            <a:ext cx="16192500" cy="3962400"/>
          </a:xfrm>
          <a:prstGeom prst="rect">
            <a:avLst/>
          </a:prstGeom>
        </p:spPr>
        <p:txBody>
          <a:bodyPr lIns="0" tIns="152400" rIns="0" bIns="0" rtlCol="0" anchor="t"/>
          <a:lstStyle/>
          <a:p>
            <a:pPr algn="ctr">
              <a:lnSpc>
                <a:spcPct val="99600"/>
              </a:lnSpc>
            </a:pPr>
            <a:r>
              <a:rPr lang="ko-KR" altLang="en-US" sz="120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정의란 무엇인가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61450" y="9144000"/>
            <a:ext cx="6261100" cy="660400"/>
          </a:xfrm>
          <a:prstGeom prst="rect">
            <a:avLst/>
          </a:prstGeom>
        </p:spPr>
        <p:txBody>
          <a:bodyPr lIns="0" tIns="23706" rIns="0" bIns="0" rtlCol="0" anchor="t"/>
          <a:lstStyle/>
          <a:p>
            <a:pPr algn="ctr">
              <a:lnSpc>
                <a:spcPct val="107899"/>
              </a:lnSpc>
            </a:pPr>
            <a:r>
              <a:rPr lang="ko-KR" altLang="en-US" sz="37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유대선</a:t>
            </a:r>
            <a:endParaRPr lang="en-US" sz="3700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16000" y="11938000"/>
            <a:ext cx="34417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2026.05.**</a:t>
            </a:r>
            <a:endParaRPr lang="en-US" sz="3200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686300" y="6057900"/>
            <a:ext cx="2413000" cy="166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93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목차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070672"/>
              </p:ext>
            </p:extLst>
          </p:nvPr>
        </p:nvGraphicFramePr>
        <p:xfrm>
          <a:off x="11176000" y="4000500"/>
          <a:ext cx="4368800" cy="57150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01</a:t>
                      </a:r>
                      <a:endParaRPr lang="en-US" sz="1100"/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</a:pPr>
                      <a:r>
                        <a:rPr lang="ko-KR" altLang="en-US" sz="4250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</a:rPr>
                        <a:t>기획의도</a:t>
                      </a:r>
                      <a:endParaRPr lang="en-US" altLang="ko-KR" sz="4250" b="0" i="0" u="none" strike="noStrike">
                        <a:solidFill>
                          <a:srgbClr val="000000"/>
                        </a:solidFill>
                        <a:latin typeface="Pretendard SemiBold"/>
                        <a:ea typeface="Pretendard SemiBold"/>
                      </a:endParaRP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02</a:t>
                      </a:r>
                      <a:endParaRPr lang="en-US" sz="1100"/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endParaRPr lang="en-US" sz="4250" b="0" i="0" u="none" strike="noStrike">
                        <a:solidFill>
                          <a:srgbClr val="000000"/>
                        </a:solidFill>
                        <a:latin typeface="Pretendard SemiBold"/>
                        <a:ea typeface="Pretendard SemiBold"/>
                      </a:endParaRP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03</a:t>
                      </a:r>
                      <a:endParaRPr lang="en-US" sz="1100"/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endParaRPr lang="en-US" sz="4250" b="0" i="0" u="none" strike="noStrike">
                        <a:solidFill>
                          <a:srgbClr val="000000"/>
                        </a:solidFill>
                        <a:latin typeface="Pretendard SemiBold"/>
                        <a:ea typeface="Pretendard SemiBold"/>
                      </a:endParaRP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017629"/>
              </p:ext>
            </p:extLst>
          </p:nvPr>
        </p:nvGraphicFramePr>
        <p:xfrm>
          <a:off x="16941800" y="4000500"/>
          <a:ext cx="4368800" cy="57150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04</a:t>
                      </a:r>
                      <a:endParaRPr lang="en-US" sz="1100"/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endParaRPr lang="en-US" sz="4250" b="0" i="0" u="none" strike="noStrike">
                        <a:solidFill>
                          <a:srgbClr val="000000"/>
                        </a:solidFill>
                        <a:latin typeface="Pretendard SemiBold"/>
                        <a:ea typeface="Pretendard SemiBold"/>
                      </a:endParaRP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05</a:t>
                      </a:r>
                      <a:endParaRPr lang="en-US" sz="1100"/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endParaRPr lang="en-US" sz="4250" b="0" i="0" u="none" strike="noStrike">
                        <a:solidFill>
                          <a:srgbClr val="000000"/>
                        </a:solidFill>
                        <a:latin typeface="Pretendard SemiBold"/>
                        <a:ea typeface="Pretendard SemiBold"/>
                      </a:endParaRP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06</a:t>
                      </a:r>
                      <a:endParaRPr lang="en-US" sz="1100"/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endParaRPr lang="en-US" sz="4250" b="0" i="0" u="none" strike="noStrike">
                        <a:solidFill>
                          <a:srgbClr val="000000"/>
                        </a:solidFill>
                        <a:latin typeface="Pretendard SemiBold"/>
                        <a:ea typeface="Pretendard SemiBold"/>
                      </a:endParaRP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65143F9-2F89-5470-4AEF-3A933E0144CF}"/>
              </a:ext>
            </a:extLst>
          </p:cNvPr>
          <p:cNvSpPr txBox="1"/>
          <p:nvPr/>
        </p:nvSpPr>
        <p:spPr>
          <a:xfrm>
            <a:off x="1054100" y="736600"/>
            <a:ext cx="33655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5000" b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목 차</a:t>
            </a:r>
            <a:endParaRPr lang="en-US" sz="5000" b="1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245AD9B7-4D02-74B4-EA99-13A90AFE7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1892300"/>
            <a:ext cx="223520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55035" y="5791797"/>
            <a:ext cx="21809765" cy="417770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ko-KR" sz="2400">
                <a:latin typeface="Calibri"/>
                <a:ea typeface="Pretendard Regular"/>
                <a:cs typeface="Calibri"/>
              </a:rPr>
              <a:t> </a:t>
            </a:r>
            <a:r>
              <a:rPr lang="ko-KR" altLang="en-US" sz="2600" b="1" u="sng">
                <a:latin typeface="Calibri"/>
                <a:ea typeface="Pretendard Regular"/>
                <a:cs typeface="Calibri"/>
              </a:rPr>
              <a:t>유명 추리소설 </a:t>
            </a:r>
            <a:r>
              <a:rPr lang="en-US" altLang="ko-KR" sz="2600" b="1" u="sng">
                <a:latin typeface="Calibri"/>
                <a:ea typeface="Pretendard Regular"/>
                <a:cs typeface="Calibri"/>
              </a:rPr>
              <a:t>‘</a:t>
            </a:r>
            <a:r>
              <a:rPr lang="ko-KR" altLang="en-US" sz="2600" b="1" u="sng">
                <a:latin typeface="Calibri"/>
                <a:ea typeface="Pretendard Regular"/>
                <a:cs typeface="Calibri"/>
              </a:rPr>
              <a:t>오리엔탈 특급 살인</a:t>
            </a:r>
            <a:r>
              <a:rPr lang="en-US" altLang="ko-KR" sz="2600" b="1" u="sng">
                <a:latin typeface="Calibri"/>
                <a:ea typeface="Pretendard Regular"/>
                <a:cs typeface="Calibri"/>
              </a:rPr>
              <a:t>’ </a:t>
            </a:r>
            <a:r>
              <a:rPr lang="ko-KR" altLang="en-US" sz="2600" b="1" u="sng">
                <a:latin typeface="Calibri"/>
                <a:ea typeface="Pretendard Regular"/>
                <a:cs typeface="Calibri"/>
              </a:rPr>
              <a:t>을 영화로 관람하고 영감을 얻어 해당 주제를 선정하였습니다</a:t>
            </a:r>
            <a:r>
              <a:rPr lang="en-US" altLang="ko-KR" sz="2600" b="1" u="sng">
                <a:latin typeface="Calibri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Calibri"/>
                <a:ea typeface="Pretendard Regular"/>
                <a:cs typeface="Calibri"/>
              </a:rPr>
              <a:t>  </a:t>
            </a:r>
            <a:r>
              <a:rPr lang="ko-KR" altLang="en-US" sz="2400">
                <a:latin typeface="Calibri"/>
                <a:ea typeface="Pretendard Regular"/>
                <a:cs typeface="Calibri"/>
              </a:rPr>
              <a:t>ㄴ 피해자가 받아들이기 힘든 법적 판결이 나왔을때 이사람이 행한 사적 제재를 어떻게 바라볼 것인가 에 대한 질문을 던지고자 합니다</a:t>
            </a:r>
            <a:r>
              <a:rPr lang="en-US" altLang="ko-KR" sz="2400">
                <a:latin typeface="Calibri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ㄴ 본 작품에서는 음주운전으로 인해 사망한 피해자들의 친족이 무죄판결을 받고 편안한 삶을 누리는 가해자에 대한 복수극으로 진행됩니다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600" b="1" u="sng">
                <a:latin typeface="Pretendard Regular"/>
                <a:ea typeface="Pretendard Regular"/>
                <a:cs typeface="Calibri"/>
              </a:rPr>
              <a:t>등장인물은 플레이어를 제외한 </a:t>
            </a:r>
            <a:r>
              <a:rPr lang="en-US" altLang="ko-KR" sz="2600" b="1" u="sng">
                <a:latin typeface="Pretendard Regular"/>
                <a:ea typeface="Pretendard Regular"/>
                <a:cs typeface="Calibri"/>
              </a:rPr>
              <a:t>‘</a:t>
            </a:r>
            <a:r>
              <a:rPr lang="ko-KR" altLang="en-US" sz="2600" b="1" u="sng">
                <a:latin typeface="Pretendard Regular"/>
                <a:ea typeface="Pretendard Regular"/>
                <a:cs typeface="Calibri"/>
              </a:rPr>
              <a:t>부부</a:t>
            </a:r>
            <a:r>
              <a:rPr lang="en-US" altLang="ko-KR" sz="2600" b="1" u="sng">
                <a:latin typeface="Pretendard Regular"/>
                <a:ea typeface="Pretendard Regular"/>
                <a:cs typeface="Calibri"/>
              </a:rPr>
              <a:t>[</a:t>
            </a:r>
            <a:r>
              <a:rPr lang="ko-KR" altLang="en-US" sz="2600" b="1" u="sng">
                <a:latin typeface="Pretendard Regular"/>
                <a:ea typeface="Pretendard Regular"/>
                <a:cs typeface="Calibri"/>
              </a:rPr>
              <a:t>유치원 선생님</a:t>
            </a:r>
            <a:r>
              <a:rPr lang="en-US" altLang="ko-KR" sz="2600" b="1" u="sng">
                <a:latin typeface="Pretendard Regular"/>
                <a:ea typeface="Pretendard Regular"/>
                <a:cs typeface="Calibri"/>
              </a:rPr>
              <a:t>, </a:t>
            </a:r>
            <a:r>
              <a:rPr lang="ko-KR" altLang="en-US" sz="2600" b="1" u="sng">
                <a:latin typeface="Pretendard Regular"/>
                <a:ea typeface="Pretendard Regular"/>
                <a:cs typeface="Calibri"/>
              </a:rPr>
              <a:t>유치원 버스기사</a:t>
            </a:r>
            <a:r>
              <a:rPr lang="en-US" altLang="ko-KR" sz="2600" b="1" u="sng">
                <a:latin typeface="Pretendard Regular"/>
                <a:ea typeface="Pretendard Regular"/>
                <a:cs typeface="Calibri"/>
              </a:rPr>
              <a:t>]</a:t>
            </a:r>
            <a:r>
              <a:rPr lang="ko-KR" altLang="en-US" sz="2600" b="1" u="sng">
                <a:latin typeface="Pretendard Regular"/>
                <a:ea typeface="Pretendard Regular"/>
                <a:cs typeface="Calibri"/>
              </a:rPr>
              <a:t> </a:t>
            </a:r>
            <a:r>
              <a:rPr lang="en-US" altLang="ko-KR" sz="2600" b="1" u="sng">
                <a:latin typeface="Pretendard Regular"/>
                <a:ea typeface="Pretendard Regular"/>
                <a:cs typeface="Calibri"/>
              </a:rPr>
              <a:t>, </a:t>
            </a:r>
            <a:r>
              <a:rPr lang="ko-KR" altLang="en-US" sz="2600" b="1" u="sng">
                <a:latin typeface="Pretendard Regular"/>
                <a:ea typeface="Pretendard Regular"/>
                <a:cs typeface="Calibri"/>
              </a:rPr>
              <a:t>목수</a:t>
            </a:r>
            <a:r>
              <a:rPr lang="en-US" altLang="ko-KR" sz="2600" b="1" u="sng">
                <a:latin typeface="Pretendard Regular"/>
                <a:ea typeface="Pretendard Regular"/>
                <a:cs typeface="Calibri"/>
              </a:rPr>
              <a:t>[</a:t>
            </a:r>
            <a:r>
              <a:rPr lang="ko-KR" altLang="en-US" sz="2600" b="1" u="sng">
                <a:latin typeface="Pretendard Regular"/>
                <a:ea typeface="Pretendard Regular"/>
                <a:cs typeface="Calibri"/>
              </a:rPr>
              <a:t>의사</a:t>
            </a:r>
            <a:r>
              <a:rPr lang="en-US" altLang="ko-KR" sz="2600" b="1" u="sng">
                <a:latin typeface="Pretendard Regular"/>
                <a:ea typeface="Pretendard Regular"/>
                <a:cs typeface="Calibri"/>
              </a:rPr>
              <a:t>]</a:t>
            </a:r>
            <a:r>
              <a:rPr lang="ko-KR" altLang="en-US" sz="2600" b="1" u="sng">
                <a:latin typeface="Pretendard Regular"/>
                <a:ea typeface="Pretendard Regular"/>
                <a:cs typeface="Calibri"/>
              </a:rPr>
              <a:t> </a:t>
            </a:r>
            <a:r>
              <a:rPr lang="en-US" altLang="ko-KR" sz="2600" b="1" u="sng">
                <a:latin typeface="Pretendard Regular"/>
                <a:ea typeface="Pretendard Regular"/>
                <a:cs typeface="Calibri"/>
              </a:rPr>
              <a:t>, </a:t>
            </a:r>
            <a:r>
              <a:rPr lang="ko-KR" altLang="en-US" sz="2600" b="1" u="sng">
                <a:latin typeface="Pretendard Regular"/>
                <a:ea typeface="Pretendard Regular"/>
                <a:cs typeface="Calibri"/>
              </a:rPr>
              <a:t>산장 주인</a:t>
            </a:r>
            <a:r>
              <a:rPr lang="en-US" altLang="ko-KR" sz="2600" b="1" u="sng">
                <a:latin typeface="Pretendard Regular"/>
                <a:ea typeface="Pretendard Regular"/>
                <a:cs typeface="Calibri"/>
              </a:rPr>
              <a:t>[</a:t>
            </a:r>
            <a:r>
              <a:rPr lang="ko-KR" altLang="en-US" sz="2600" b="1" u="sng">
                <a:latin typeface="Pretendard Regular"/>
                <a:ea typeface="Pretendard Regular"/>
                <a:cs typeface="Calibri"/>
              </a:rPr>
              <a:t>경찰</a:t>
            </a:r>
            <a:r>
              <a:rPr lang="en-US" altLang="ko-KR" sz="2600" b="1" u="sng">
                <a:latin typeface="Pretendard Regular"/>
                <a:ea typeface="Pretendard Regular"/>
                <a:cs typeface="Calibri"/>
              </a:rPr>
              <a:t>], </a:t>
            </a:r>
            <a:r>
              <a:rPr lang="ko-KR" altLang="en-US" sz="2600" b="1" u="sng">
                <a:latin typeface="Pretendard Regular"/>
                <a:ea typeface="Pretendard Regular"/>
                <a:cs typeface="Calibri"/>
              </a:rPr>
              <a:t>방송 피디</a:t>
            </a:r>
            <a:r>
              <a:rPr lang="en-US" altLang="ko-KR" sz="2600" b="1" u="sng">
                <a:latin typeface="Pretendard Regular"/>
                <a:ea typeface="Pretendard Regular"/>
                <a:cs typeface="Calibri"/>
              </a:rPr>
              <a:t>, </a:t>
            </a:r>
            <a:r>
              <a:rPr lang="ko-KR" altLang="en-US" sz="2600" b="1" u="sng">
                <a:latin typeface="Pretendard Regular"/>
                <a:ea typeface="Pretendard Regular"/>
                <a:cs typeface="Calibri"/>
              </a:rPr>
              <a:t>가이드</a:t>
            </a:r>
            <a:r>
              <a:rPr lang="en-US" altLang="ko-KR" sz="2600" b="1" u="sng">
                <a:latin typeface="Pretendard Regular"/>
                <a:ea typeface="Pretendard Regular"/>
                <a:cs typeface="Calibri"/>
              </a:rPr>
              <a:t>[</a:t>
            </a:r>
            <a:r>
              <a:rPr lang="ko-KR" altLang="en-US" sz="2600" b="1" u="sng">
                <a:latin typeface="Pretendard Regular"/>
                <a:ea typeface="Pretendard Regular"/>
                <a:cs typeface="Calibri"/>
              </a:rPr>
              <a:t>회사원</a:t>
            </a:r>
            <a:r>
              <a:rPr lang="en-US" altLang="ko-KR" sz="2600" b="1" u="sng">
                <a:latin typeface="Pretendard Regular"/>
                <a:ea typeface="Pretendard Regular"/>
                <a:cs typeface="Calibri"/>
              </a:rPr>
              <a:t>], </a:t>
            </a:r>
            <a:r>
              <a:rPr lang="ko-KR" altLang="en-US" sz="2600" b="1" u="sng">
                <a:latin typeface="Pretendard Regular"/>
                <a:ea typeface="Pretendard Regular"/>
                <a:cs typeface="Calibri"/>
              </a:rPr>
              <a:t>과거 가해자 </a:t>
            </a:r>
            <a:r>
              <a:rPr lang="en-US" altLang="ko-KR" sz="2600" b="1" u="sng">
                <a:latin typeface="Pretendard Regular"/>
                <a:ea typeface="Pretendard Regular"/>
                <a:cs typeface="Calibri"/>
              </a:rPr>
              <a:t>‘ </a:t>
            </a:r>
            <a:r>
              <a:rPr lang="ko-KR" altLang="en-US" sz="2600" b="1" u="sng">
                <a:latin typeface="Pretendard Regular"/>
                <a:ea typeface="Pretendard Regular"/>
                <a:cs typeface="Calibri"/>
              </a:rPr>
              <a:t>총 </a:t>
            </a:r>
            <a:r>
              <a:rPr lang="en-US" altLang="ko-KR" sz="2600" b="1" u="sng">
                <a:latin typeface="Pretendard Regular"/>
                <a:ea typeface="Pretendard Regular"/>
                <a:cs typeface="Calibri"/>
              </a:rPr>
              <a:t>7</a:t>
            </a:r>
            <a:r>
              <a:rPr lang="ko-KR" altLang="en-US" sz="2600" b="1" u="sng">
                <a:latin typeface="Pretendard Regular"/>
                <a:ea typeface="Pretendard Regular"/>
                <a:cs typeface="Calibri"/>
              </a:rPr>
              <a:t>명입니다</a:t>
            </a:r>
            <a:r>
              <a:rPr lang="en-US" altLang="ko-KR" sz="2600" b="1" u="sng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ㄴ 너무 많은 등장인물은 플레이어가 등장인물을 기억하기 힘들게 만듭니다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ㄴ 많은 등장인물로 인해 플레이어가 등장인물들의 감정에 대입하기 어렵습니다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 ㄴ 너무 적은 등장인물을 사건을 단조롭게 만들고 플레이어가 쉽게 범인을 특정지을 수 있습니다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 ㄴ 본 작품에서 플레이어와 과거 가해자를 제외하고 모두가 해당 사건의 범인이자 동조자 입니다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ㄴ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3~4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명의 공범은 가해자가 저질렀던일로 죄책감과 피해를 입은 사람이 너무 적다 생각이 들 수 있습니다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 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135600" y="130302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algn="r">
              <a:lnSpc>
                <a:spcPct val="103749"/>
              </a:lnSpc>
            </a:pPr>
            <a:r>
              <a:rPr lang="ko-KR" altLang="en-US" sz="2100" i="1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정의란 무엇인가</a:t>
            </a:r>
            <a:endParaRPr lang="en-US" sz="2100" b="0" i="1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AFB4E186-55C7-AA0F-D31D-E1585906F2E6}"/>
              </a:ext>
            </a:extLst>
          </p:cNvPr>
          <p:cNvSpPr txBox="1"/>
          <p:nvPr/>
        </p:nvSpPr>
        <p:spPr>
          <a:xfrm>
            <a:off x="1355035" y="2654300"/>
            <a:ext cx="46482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665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이야기의 주제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2E6DE6FC-F39C-C1D1-A160-80438637F402}"/>
              </a:ext>
            </a:extLst>
          </p:cNvPr>
          <p:cNvSpPr txBox="1"/>
          <p:nvPr/>
        </p:nvSpPr>
        <p:spPr>
          <a:xfrm>
            <a:off x="1399485" y="4254500"/>
            <a:ext cx="21551900" cy="825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4650">
                <a:solidFill>
                  <a:schemeClr val="tx1">
                    <a:lumMod val="50000"/>
                    <a:lumOff val="50000"/>
                  </a:schemeClr>
                </a:solidFill>
                <a:latin typeface="Pretendard SemiBold"/>
                <a:ea typeface="Pretendard SemiBold"/>
                <a:cs typeface="Pretendard SemiBold"/>
              </a:rPr>
              <a:t>이 게임을 통해 플레이어에게 </a:t>
            </a:r>
            <a:r>
              <a:rPr lang="ko-KR" altLang="en-US" sz="4650" b="1" u="sng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정의란 무엇인가</a:t>
            </a:r>
            <a:r>
              <a:rPr lang="ko-KR" altLang="en-US" sz="4650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4650" b="1">
                <a:solidFill>
                  <a:schemeClr val="tx1">
                    <a:lumMod val="50000"/>
                    <a:lumOff val="50000"/>
                  </a:schemeClr>
                </a:solidFill>
                <a:latin typeface="Pretendard SemiBold"/>
                <a:ea typeface="Pretendard SemiBold"/>
                <a:cs typeface="Pretendard SemiBold"/>
              </a:rPr>
              <a:t>에 대한 이야기를 하고싶습니다</a:t>
            </a:r>
            <a:r>
              <a:rPr lang="en-US" altLang="ko-KR" sz="4650" b="1">
                <a:solidFill>
                  <a:schemeClr val="tx1">
                    <a:lumMod val="50000"/>
                    <a:lumOff val="50000"/>
                  </a:schemeClr>
                </a:solidFill>
                <a:latin typeface="Pretendard SemiBold"/>
                <a:ea typeface="Pretendard SemiBold"/>
                <a:cs typeface="Pretendard SemiBold"/>
              </a:rPr>
              <a:t>.</a:t>
            </a:r>
            <a:endParaRPr lang="ko-KR" altLang="en-US" sz="4650" b="1" i="0" strike="noStrike">
              <a:solidFill>
                <a:schemeClr val="tx1">
                  <a:lumMod val="50000"/>
                  <a:lumOff val="50000"/>
                </a:schemeClr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80BAB3-2ABD-F316-A22B-291BD4F9382A}"/>
              </a:ext>
            </a:extLst>
          </p:cNvPr>
          <p:cNvSpPr txBox="1"/>
          <p:nvPr/>
        </p:nvSpPr>
        <p:spPr>
          <a:xfrm>
            <a:off x="1054100" y="3556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>
              <a:lnSpc>
                <a:spcPct val="103749"/>
              </a:lnSpc>
            </a:pPr>
            <a:r>
              <a:rPr lang="en-US" altLang="ko-KR" sz="2100" b="0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Chapter 1</a:t>
            </a:r>
            <a:endParaRPr lang="ko-KR" altLang="en-US" sz="2100" b="0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4EB401-D8AE-2460-EF66-1F312278ADBF}"/>
              </a:ext>
            </a:extLst>
          </p:cNvPr>
          <p:cNvSpPr txBox="1"/>
          <p:nvPr/>
        </p:nvSpPr>
        <p:spPr>
          <a:xfrm>
            <a:off x="1054100" y="736600"/>
            <a:ext cx="33655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5000" b="1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기획 의도</a:t>
            </a:r>
            <a:endParaRPr lang="en-US" sz="5000" b="1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0A58855B-5CE5-CF6E-9C42-A7E128A94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1892300"/>
            <a:ext cx="223520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581D2-AB20-C27E-AAB4-764D623D4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9FB9842D-EE4F-B850-B330-4EF9C50B0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63497170-4ADF-D32C-28AB-50E07149F413}"/>
              </a:ext>
            </a:extLst>
          </p:cNvPr>
          <p:cNvSpPr txBox="1"/>
          <p:nvPr/>
        </p:nvSpPr>
        <p:spPr>
          <a:xfrm>
            <a:off x="1355035" y="4127431"/>
            <a:ext cx="22072600" cy="669303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5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년 전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인기 연예인 강민혁은 음주운전 사고를 내게 된다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이 사고로 인해 한명의 아이가 죽게 되었는데 사건 당시 사회는 분노로 들끓었지만 대리인의 허위 자백으로 인해 강민혁은 무죄 판결을 받는다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시간이 흐르며 사람들은 점차 사건을 잊어갔고 강민혁 또한 긴 자숙 끝에 다시 연예계 활동을 시작하며 서서히 인기를 되찾아간다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누군가는 말한다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“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본인이 저지른 일도 아닌데 이정도면 충분히 자숙하고 온거 아닌가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?”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하지만 남겨진 사람들에겐 아직도 사건이 끝맺음 된 것이 아니다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아이들을 지키지 못한 선생과 버스기사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자신의 손으로 자식의 사망판정을 내리는 의사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법의 심판을 피해가는 것을 봐야 했던 경찰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가해자와 함께 활동해야하는 피디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자식을 잃은 슬픔으로 자살한 남편을 둔 회사원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그들은 끝맺지 못한 슬픔을 가슴에 묻고 다시금 현제를 살아간다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 그러던 어느날 겨울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 다큐멘터리 촬영을 위해 눈내리는 산장에 모인 사람들 사이에서 강민혁은 의문의 죽음을 맞이하게 된다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1E2F99E-245F-CE09-9A8E-488C187D4477}"/>
              </a:ext>
            </a:extLst>
          </p:cNvPr>
          <p:cNvSpPr txBox="1"/>
          <p:nvPr/>
        </p:nvSpPr>
        <p:spPr>
          <a:xfrm>
            <a:off x="18135600" y="130302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algn="r">
              <a:lnSpc>
                <a:spcPct val="103749"/>
              </a:lnSpc>
            </a:pPr>
            <a:r>
              <a:rPr lang="ko-KR" altLang="en-US" sz="2100" i="1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정의란 무엇인가</a:t>
            </a:r>
            <a:endParaRPr lang="en-US" sz="2100" b="0" i="1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40EF42B3-79DD-C535-4759-B1FE92D0828A}"/>
              </a:ext>
            </a:extLst>
          </p:cNvPr>
          <p:cNvSpPr txBox="1"/>
          <p:nvPr/>
        </p:nvSpPr>
        <p:spPr>
          <a:xfrm>
            <a:off x="1355035" y="2654300"/>
            <a:ext cx="46482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665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스토리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1B4B1F-EA32-2C6D-091E-5CBEF8C1926E}"/>
              </a:ext>
            </a:extLst>
          </p:cNvPr>
          <p:cNvSpPr txBox="1"/>
          <p:nvPr/>
        </p:nvSpPr>
        <p:spPr>
          <a:xfrm>
            <a:off x="1054100" y="736600"/>
            <a:ext cx="33655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5000" b="1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기획 의도</a:t>
            </a:r>
            <a:endParaRPr lang="en-US" sz="5000" b="1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C6AD0149-E457-21B7-1D83-7A3E3BA84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1892300"/>
            <a:ext cx="22352000" cy="25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086B65-07FD-73DD-629B-CF62B7472382}"/>
              </a:ext>
            </a:extLst>
          </p:cNvPr>
          <p:cNvSpPr txBox="1"/>
          <p:nvPr/>
        </p:nvSpPr>
        <p:spPr>
          <a:xfrm>
            <a:off x="1054100" y="3556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>
              <a:lnSpc>
                <a:spcPct val="103749"/>
              </a:lnSpc>
            </a:pPr>
            <a:r>
              <a:rPr lang="en-US" altLang="ko-KR" sz="2100" b="0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Chapter 1</a:t>
            </a:r>
            <a:endParaRPr lang="ko-KR" altLang="en-US" sz="2100" b="0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388568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EFC23-0BCF-5A57-F187-31893236C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D95AFA3D-8FCD-D384-E93E-B4EBDDE6D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6A942923-24B0-BA3F-DB49-8AE3C4CFFC80}"/>
              </a:ext>
            </a:extLst>
          </p:cNvPr>
          <p:cNvSpPr txBox="1"/>
          <p:nvPr/>
        </p:nvSpPr>
        <p:spPr>
          <a:xfrm>
            <a:off x="1355035" y="4000431"/>
            <a:ext cx="22072600" cy="791216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50000"/>
              </a:lnSpc>
            </a:pPr>
            <a:r>
              <a:rPr lang="ko-KR" altLang="en-US" sz="2800" b="1" u="sng">
                <a:latin typeface="Pretendard Regular"/>
                <a:ea typeface="Pretendard Regular"/>
                <a:cs typeface="Calibri"/>
              </a:rPr>
              <a:t>눈내리는 산장</a:t>
            </a:r>
            <a:endParaRPr lang="en-US" altLang="ko-KR" sz="2800" b="1" u="sng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ㄴ 외부와의 단절을 의미하며 이로인해 외부에서 제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3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자가 들어와 일으킨 범행이 아님을 나타냅니다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ㄴ 사건이 발생했을 때 만약의 경우로 피해자가 도망치지 못하게끔 하는 장치입니다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  <a:br>
              <a:rPr lang="en-US" altLang="ko-KR" sz="2400">
                <a:latin typeface="Pretendard Regular"/>
                <a:ea typeface="Pretendard Regular"/>
                <a:cs typeface="Calibri"/>
              </a:rPr>
            </a:b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ㄴ 무거운 주제를 가지고있는 만큼 조용하고 차가운 분위기를 연출하는것이 의도였습니다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800" b="1" u="sng">
                <a:latin typeface="Pretendard Regular"/>
                <a:ea typeface="Pretendard Regular"/>
                <a:cs typeface="Calibri"/>
              </a:rPr>
              <a:t>모두가 공조한 범행</a:t>
            </a:r>
            <a:endParaRPr lang="en-US" altLang="ko-KR" sz="2800" b="1" u="sng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ㄴ 추리게임을 진행할 시 진범을 찾는다 라는 기대감으로 게임을 플레이하게 되는데 모두가 범인이라는 구조를 이용하여 그 누구를 선택하더라도 범인을 찾았다라는 기대감을 충족시키면서 진실된 해답에는 다가가지 못하게 만드는 의도였습니다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ㄴ 본 작품에서 등장인물들은 같은 사고로 인해 삶이 무너진 사람들이며 플레이어가 단순히 누가 범인인가를 찾는것이 아닌 모두가 범인이되고 공조할 수 밖에 없었는가에 대해 고민하게 만드는 것이 의도입니다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ㄴ 이를 통해 본 작품이 의도한 정의란 무엇인가 에 대한 질문에 명확한 정답을 제시하기보다 스스로 사건과 감정을 통해 결론을 짓게 하는것이 목표입니다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800" b="1" u="sng">
                <a:latin typeface="Pretendard Regular"/>
                <a:ea typeface="Pretendard Regular"/>
                <a:cs typeface="Calibri"/>
              </a:rPr>
              <a:t>정의란 무엇인가</a:t>
            </a:r>
            <a:endParaRPr lang="en-US" altLang="ko-KR" sz="2800" b="1" u="sng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ㄴ 본 작품을 플레이하고 엔딩에 도달했을때 진범에게 사적 제재를 가한 이들의 행동이 과연 정의로울 수 있는가에 대한 질문을 던지고자 하였습니다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ㄴ 사건의 진실을 모두 알게 된 이후 이들을 경찰에 넘겨 법의 심판을 받게 할 것인지 혹은 사건의 진실을 숨긴 채 또 하나의 사고로 남길 것인지 플레이어가 선택하게 됩니다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ㄴ 이를 통해 단순히 선과 악을 구분하는 것이아닌 과연 무엇이 진정한 정의인가에 대해 스스로 고민하도록 만드는 것이 목표입니다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4EF975A-68AB-6BCA-595D-FB4C50D034CF}"/>
              </a:ext>
            </a:extLst>
          </p:cNvPr>
          <p:cNvSpPr txBox="1"/>
          <p:nvPr/>
        </p:nvSpPr>
        <p:spPr>
          <a:xfrm>
            <a:off x="18135600" y="130302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algn="r">
              <a:lnSpc>
                <a:spcPct val="103749"/>
              </a:lnSpc>
            </a:pPr>
            <a:r>
              <a:rPr lang="ko-KR" altLang="en-US" sz="2100" i="1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정의란 무엇인가</a:t>
            </a:r>
            <a:endParaRPr lang="en-US" sz="2100" b="0" i="1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9CE0530B-A39C-FD95-776E-840ADFB85887}"/>
              </a:ext>
            </a:extLst>
          </p:cNvPr>
          <p:cNvSpPr txBox="1"/>
          <p:nvPr/>
        </p:nvSpPr>
        <p:spPr>
          <a:xfrm>
            <a:off x="1355035" y="2654300"/>
            <a:ext cx="4648200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66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배경 의도</a:t>
            </a:r>
            <a:endParaRPr lang="ko-KR" altLang="en-US" sz="6650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C4E6CB-4BD2-623E-60F3-C15A0E756866}"/>
              </a:ext>
            </a:extLst>
          </p:cNvPr>
          <p:cNvSpPr txBox="1"/>
          <p:nvPr/>
        </p:nvSpPr>
        <p:spPr>
          <a:xfrm>
            <a:off x="1054100" y="736600"/>
            <a:ext cx="33655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5000" b="1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기획 의도</a:t>
            </a:r>
            <a:endParaRPr lang="en-US" sz="5000" b="1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FADF2593-6645-0D92-020E-A61A8625A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1892300"/>
            <a:ext cx="22352000" cy="25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331EA8-2F70-D365-54AE-00E66C260551}"/>
              </a:ext>
            </a:extLst>
          </p:cNvPr>
          <p:cNvSpPr txBox="1"/>
          <p:nvPr/>
        </p:nvSpPr>
        <p:spPr>
          <a:xfrm>
            <a:off x="1054100" y="3556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>
              <a:lnSpc>
                <a:spcPct val="103749"/>
              </a:lnSpc>
            </a:pPr>
            <a:r>
              <a:rPr lang="en-US" altLang="ko-KR" sz="2100" b="0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Chapter 1</a:t>
            </a:r>
            <a:endParaRPr lang="ko-KR" altLang="en-US" sz="2100" b="0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713839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3BD3A-42DC-016B-75A2-8C663F84F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50A8BF33-7565-1A5A-CD50-95B21C23F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2E4E6438-24D1-830E-5AC6-C89F4E52C76C}"/>
              </a:ext>
            </a:extLst>
          </p:cNvPr>
          <p:cNvSpPr txBox="1"/>
          <p:nvPr/>
        </p:nvSpPr>
        <p:spPr>
          <a:xfrm>
            <a:off x="1355035" y="4127430"/>
            <a:ext cx="22072600" cy="791216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직업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 사립 탐정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나이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30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대 초반 남성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외형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마른 체형에 정돈되지 않고 반쯤 곱쓸거리는 머리를 하고있다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겨울철에 코트를 즐겨입으며 자신의 신체보다 큰사이즈의 옷을 오버핏으로 입는걸 좋아한다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인물 소개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어릴적부터 상상력이 풍부했던 인물로 다른 사람들과 있을때 사소한 행동이나 말에서도 의미를 찾으려 한다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	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분석하고 상상한다음 추리하며 시간을 보내는것을 좋아한다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다만 이러한 성격이 평범한 사회생활에 쉽게 적응하지 못하게 만들었고 그를 사립탐정의 길을 선택하게 만들었다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     	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현재는 작은 탐정 사무소를 운영하면서 생활형 의뢰를 해결하여 생계를 유지하고 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      	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우연히 산장 숙박 이벤트에 당첨되어 이 사건에 휘말리게 된다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 ㄴ   형편이 좋지 못한 설정으로 인해 우연히 당첨된 이벤트에 참가하게된다는 개연성을 부여한다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ㄴ   사소한 행동이나 말에서 의미를 찾으려 한다는 점에서 모든 용의자들에게서 혐의가 있음을 찾아내게 한다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9740FD0-59D7-F793-8BFE-439B1A153DC0}"/>
              </a:ext>
            </a:extLst>
          </p:cNvPr>
          <p:cNvSpPr txBox="1"/>
          <p:nvPr/>
        </p:nvSpPr>
        <p:spPr>
          <a:xfrm>
            <a:off x="18135600" y="130302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algn="r">
              <a:lnSpc>
                <a:spcPct val="103749"/>
              </a:lnSpc>
            </a:pPr>
            <a:r>
              <a:rPr lang="ko-KR" altLang="en-US" sz="2100" i="1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정의란 무엇인가</a:t>
            </a:r>
            <a:endParaRPr lang="en-US" sz="2100" b="0" i="1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34C1BF1A-C21E-FA99-2F76-5FD901203843}"/>
              </a:ext>
            </a:extLst>
          </p:cNvPr>
          <p:cNvSpPr txBox="1"/>
          <p:nvPr/>
        </p:nvSpPr>
        <p:spPr>
          <a:xfrm>
            <a:off x="1355034" y="2654300"/>
            <a:ext cx="7865165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665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등장인물 </a:t>
            </a:r>
            <a:r>
              <a:rPr lang="en-US" altLang="ko-KR" sz="665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 </a:t>
            </a:r>
            <a:r>
              <a:rPr lang="ko-KR" altLang="en-US" sz="66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플레이어</a:t>
            </a:r>
            <a:endParaRPr lang="ko-KR" altLang="en-US" sz="6650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B39ED6-51E4-C0A6-4ABE-87784C7F1D7B}"/>
              </a:ext>
            </a:extLst>
          </p:cNvPr>
          <p:cNvSpPr txBox="1"/>
          <p:nvPr/>
        </p:nvSpPr>
        <p:spPr>
          <a:xfrm>
            <a:off x="1054100" y="736600"/>
            <a:ext cx="33655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5000" b="1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기획 의도</a:t>
            </a:r>
            <a:endParaRPr lang="en-US" sz="5000" b="1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40AE585F-7433-1711-7412-F82F737C5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1892300"/>
            <a:ext cx="22352000" cy="25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BFDA6F-3C2E-631C-4C1B-0ECCFC0FD93C}"/>
              </a:ext>
            </a:extLst>
          </p:cNvPr>
          <p:cNvSpPr txBox="1"/>
          <p:nvPr/>
        </p:nvSpPr>
        <p:spPr>
          <a:xfrm>
            <a:off x="1054100" y="3556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>
              <a:lnSpc>
                <a:spcPct val="103749"/>
              </a:lnSpc>
            </a:pPr>
            <a:r>
              <a:rPr lang="en-US" altLang="ko-KR" sz="2100" b="0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Chapter 1</a:t>
            </a:r>
            <a:endParaRPr lang="ko-KR" altLang="en-US" sz="2100" b="0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585FBDD-CB81-E7BD-1F5A-60B89D2D5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9537" y="7712599"/>
            <a:ext cx="5039428" cy="382005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BCA4FE9-4B92-A3B2-BE08-41265A5CE8A3}"/>
              </a:ext>
            </a:extLst>
          </p:cNvPr>
          <p:cNvSpPr txBox="1"/>
          <p:nvPr/>
        </p:nvSpPr>
        <p:spPr>
          <a:xfrm>
            <a:off x="17989537" y="11850914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Pretendard Regular" panose="020B0600000101010101" charset="-127"/>
                <a:ea typeface="Pretendard Regular" panose="020B0600000101010101" charset="-127"/>
              </a:rPr>
              <a:t>플레이어블 캐릭터 이미지 예시</a:t>
            </a:r>
          </a:p>
        </p:txBody>
      </p:sp>
    </p:spTree>
    <p:extLst>
      <p:ext uri="{BB962C8B-B14F-4D97-AF65-F5344CB8AC3E}">
        <p14:creationId xmlns:p14="http://schemas.microsoft.com/office/powerpoint/2010/main" val="2734934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17311-CD11-5509-3A76-174CFAFF0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2924E28F-86F9-27DB-733B-25D2A872D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228015BC-29EA-3FFF-AE48-5A086FC2980C}"/>
              </a:ext>
            </a:extLst>
          </p:cNvPr>
          <p:cNvSpPr txBox="1"/>
          <p:nvPr/>
        </p:nvSpPr>
        <p:spPr>
          <a:xfrm>
            <a:off x="1355035" y="4127430"/>
            <a:ext cx="22072600" cy="791216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직업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 연예인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나이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30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대 중반 남성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외형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사람들의 시선을 자연스럽게 끌어당기는 화려한 분위기를 가진 인물이다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깔끔하게 정돈된 머리와 값비싼 스타일링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,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자신감이 느껴지는 태도는 오랜 시간 대중의 관심과 사랑 속에서 살아온 연예인이라는 인상을 강하게 보여준다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인물 소개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항상 여유로운 미소를 유지하며 사람을 대할 때도 능숙하게 분위기를 이끌지만 그 속에는 타인에 대한 공감보다는 자기 자신에 대한 강한 확신과 애정이 느껴진다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	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사건 이후 오랜 자숙기간을 거쳤음에도 여전히 자신이 대중들에게 사랑받을 수 있다고 믿고 있으며 인터뷰나 대화 속에서도 마치 자신또한 피해자라는듯 억울함을 토로하는 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	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모습을 보인다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	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타인의 감정보다 자신의 이미지와 감정에 민감하게 반응하고 겉으로는 반성하는 듯한 모습을 보여도 속으론 전혀 그렇지 않다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의도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단순한 악인보단 이 사람을 경험했을때 혐오감과 불쾌감을 느끼게 하는것이 목표입니다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4CBF452-3F4D-4E86-F837-7C38F13FECA3}"/>
              </a:ext>
            </a:extLst>
          </p:cNvPr>
          <p:cNvSpPr txBox="1"/>
          <p:nvPr/>
        </p:nvSpPr>
        <p:spPr>
          <a:xfrm>
            <a:off x="18135600" y="130302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algn="r">
              <a:lnSpc>
                <a:spcPct val="103749"/>
              </a:lnSpc>
            </a:pPr>
            <a:r>
              <a:rPr lang="ko-KR" altLang="en-US" sz="2100" i="1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정의란 무엇인가</a:t>
            </a:r>
            <a:endParaRPr lang="en-US" sz="2100" b="0" i="1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CC0677E3-6EE4-84A7-15C9-D04BA363D35E}"/>
              </a:ext>
            </a:extLst>
          </p:cNvPr>
          <p:cNvSpPr txBox="1"/>
          <p:nvPr/>
        </p:nvSpPr>
        <p:spPr>
          <a:xfrm>
            <a:off x="1355034" y="2654300"/>
            <a:ext cx="7865165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665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등장인물 </a:t>
            </a:r>
            <a:r>
              <a:rPr lang="en-US" altLang="ko-KR" sz="665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 </a:t>
            </a:r>
            <a:r>
              <a:rPr lang="ko-KR" altLang="en-US" sz="66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강민혁</a:t>
            </a:r>
            <a:endParaRPr lang="ko-KR" altLang="en-US" sz="6650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32CAC-4909-6DCE-AF32-AA58A8029FB8}"/>
              </a:ext>
            </a:extLst>
          </p:cNvPr>
          <p:cNvSpPr txBox="1"/>
          <p:nvPr/>
        </p:nvSpPr>
        <p:spPr>
          <a:xfrm>
            <a:off x="1054100" y="736600"/>
            <a:ext cx="33655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5000" b="1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기획 의도</a:t>
            </a:r>
            <a:endParaRPr lang="en-US" sz="5000" b="1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E797C860-3242-C604-9251-1BEE83274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1892300"/>
            <a:ext cx="22352000" cy="25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067F63-5814-ABB9-78E0-21F13D380B8C}"/>
              </a:ext>
            </a:extLst>
          </p:cNvPr>
          <p:cNvSpPr txBox="1"/>
          <p:nvPr/>
        </p:nvSpPr>
        <p:spPr>
          <a:xfrm>
            <a:off x="1054100" y="3556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>
              <a:lnSpc>
                <a:spcPct val="103749"/>
              </a:lnSpc>
            </a:pPr>
            <a:r>
              <a:rPr lang="en-US" altLang="ko-KR" sz="2100" b="0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Chapter 1</a:t>
            </a:r>
            <a:endParaRPr lang="ko-KR" altLang="en-US" sz="2100" b="0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C4BE2FB-56E5-0A96-43C3-A2D95ECA0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0" y="8130755"/>
            <a:ext cx="3550781" cy="34244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08B660-769D-C860-F74D-756397443768}"/>
              </a:ext>
            </a:extLst>
          </p:cNvPr>
          <p:cNvSpPr txBox="1"/>
          <p:nvPr/>
        </p:nvSpPr>
        <p:spPr>
          <a:xfrm>
            <a:off x="19050000" y="11889084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Pretendard Regular" panose="020B0600000101010101" charset="-127"/>
                <a:ea typeface="Pretendard Regular" panose="020B0600000101010101" charset="-127"/>
              </a:rPr>
              <a:t>강민혁 이미지 예시</a:t>
            </a:r>
          </a:p>
        </p:txBody>
      </p:sp>
    </p:spTree>
    <p:extLst>
      <p:ext uri="{BB962C8B-B14F-4D97-AF65-F5344CB8AC3E}">
        <p14:creationId xmlns:p14="http://schemas.microsoft.com/office/powerpoint/2010/main" val="1104578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DADF2-840E-65E7-2ECD-8AD606CFD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F1A51405-FA16-B708-611F-B8F5462DC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FC60AA30-9204-F438-5847-BAAA6E2D6031}"/>
              </a:ext>
            </a:extLst>
          </p:cNvPr>
          <p:cNvSpPr txBox="1"/>
          <p:nvPr/>
        </p:nvSpPr>
        <p:spPr>
          <a:xfrm>
            <a:off x="1355035" y="4127430"/>
            <a:ext cx="22072600" cy="791216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직업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 전업주부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(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전직 유치원 교사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나이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29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세 여성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외형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조용하고 지쳐 보이는 분위기를 풍기는 여성이다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아직 앳된 인상이 남아 있지만 피곤해 보이는 눈빛과 무표정한 얼굴 때문인지 실제 나이보다는 더 어른스러워 보인다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화려하거나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	   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 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눈에 띄는 스타일이 아닌 단정하고 무채색에 가까운 옷차림을 하고 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긴 머리는 대충 묶거나 자연스럽게 풀어둔 상태가 많다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인물 소개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사고 당시 유치원 교사였던 인물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사건 당일 아이들과 함께 유치원 버스에 탑승하고 있었으며 사고 이후 기적적으로 살아남았지만 자신이 아이들을 지키지 못했다는 죄책감 속에 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	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살아가고 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이후 교직을 그만두었으며 현재는 조용히 살아가고 있으며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산장에서는 버스기사와 부부인척 행동하고 있지만 실제로는 미혼이다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가해자인 강민혁을 증오하면서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  	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동시에 스스로를 용서하지 못하고 있는 인물이다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밤에 잠을 제대로 자지못해 약을 복용중이다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의도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단순히 가해자를 향하여 분노를 표출하는 피해자가 아닌 아이들을 지켜야 했지만 그러지 못함으로서 스스로를 죄인 처럼 여기며 살아가는</a:t>
            </a:r>
            <a:br>
              <a:rPr lang="en-US" altLang="ko-KR" sz="2400">
                <a:latin typeface="Pretendard Regular"/>
                <a:ea typeface="Pretendard Regular"/>
                <a:cs typeface="Calibri"/>
              </a:rPr>
            </a:b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 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인물을 표현하기위해 설정했습니다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사건 이후 내가 조금더 아이들을 챙겼더라면 이라는 후회를 반복하며 살아가고 있으며 이를 통해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 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살아남았음에도 삶이 무너져가고 있다는 점을 표현하고자 합니다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본 사건에서 범행을 도와주는 조력자 역할을 맡고있습니다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ED121C2-E60F-29B1-40DB-742784D1573D}"/>
              </a:ext>
            </a:extLst>
          </p:cNvPr>
          <p:cNvSpPr txBox="1"/>
          <p:nvPr/>
        </p:nvSpPr>
        <p:spPr>
          <a:xfrm>
            <a:off x="18135600" y="130302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algn="r">
              <a:lnSpc>
                <a:spcPct val="103749"/>
              </a:lnSpc>
            </a:pPr>
            <a:r>
              <a:rPr lang="ko-KR" altLang="en-US" sz="2100" i="1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정의란 무엇인가</a:t>
            </a:r>
            <a:endParaRPr lang="en-US" sz="2100" b="0" i="1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971FD780-1559-2020-6878-4B1770D95487}"/>
              </a:ext>
            </a:extLst>
          </p:cNvPr>
          <p:cNvSpPr txBox="1"/>
          <p:nvPr/>
        </p:nvSpPr>
        <p:spPr>
          <a:xfrm>
            <a:off x="1355034" y="2654300"/>
            <a:ext cx="7865165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665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등장인물 </a:t>
            </a:r>
            <a:r>
              <a:rPr lang="en-US" altLang="ko-KR" sz="665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 </a:t>
            </a:r>
            <a:r>
              <a:rPr lang="ko-KR" altLang="en-US" sz="66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한성미</a:t>
            </a:r>
            <a:endParaRPr lang="ko-KR" altLang="en-US" sz="6650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44F7B0-C4B4-281F-0CE1-547CCAEEE9EF}"/>
              </a:ext>
            </a:extLst>
          </p:cNvPr>
          <p:cNvSpPr txBox="1"/>
          <p:nvPr/>
        </p:nvSpPr>
        <p:spPr>
          <a:xfrm>
            <a:off x="1054100" y="736600"/>
            <a:ext cx="33655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5000" b="1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기획 의도</a:t>
            </a:r>
            <a:endParaRPr lang="en-US" sz="5000" b="1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4FDAFD01-A519-60B2-5BB6-7576F432F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1892300"/>
            <a:ext cx="22352000" cy="25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966E98-6D23-7BF5-C35D-48F7906EDC6D}"/>
              </a:ext>
            </a:extLst>
          </p:cNvPr>
          <p:cNvSpPr txBox="1"/>
          <p:nvPr/>
        </p:nvSpPr>
        <p:spPr>
          <a:xfrm>
            <a:off x="1054100" y="3556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>
              <a:lnSpc>
                <a:spcPct val="103749"/>
              </a:lnSpc>
            </a:pPr>
            <a:r>
              <a:rPr lang="en-US" altLang="ko-KR" sz="2100" b="0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Chapter 1</a:t>
            </a:r>
            <a:endParaRPr lang="ko-KR" altLang="en-US" sz="2100" b="0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97D7C8-2EED-8902-D53F-9883A09EF5A3}"/>
              </a:ext>
            </a:extLst>
          </p:cNvPr>
          <p:cNvSpPr txBox="1"/>
          <p:nvPr/>
        </p:nvSpPr>
        <p:spPr>
          <a:xfrm>
            <a:off x="18821400" y="11891525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Pretendard Regular" panose="020B0600000101010101" charset="-127"/>
                <a:ea typeface="Pretendard Regular" panose="020B0600000101010101" charset="-127"/>
              </a:rPr>
              <a:t>한성미 이미지 예시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F513A36-4F74-EB1A-501B-91C454F2E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0" y="7787626"/>
            <a:ext cx="4001080" cy="401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131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74DCD-140D-D756-5096-8BD4B11F8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C83723A5-6699-C89E-AEA7-D45EF6D97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DBE3BBAE-B86D-7AC5-305D-32003BD2AADA}"/>
              </a:ext>
            </a:extLst>
          </p:cNvPr>
          <p:cNvSpPr txBox="1"/>
          <p:nvPr/>
        </p:nvSpPr>
        <p:spPr>
          <a:xfrm>
            <a:off x="1355035" y="4127430"/>
            <a:ext cx="22072600" cy="791216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직업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 회사원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 (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전직 유치원 버스기사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나이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32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세 남성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외형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전체적으로 푸근하고 사람 좋아 보이는 인상의 남성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단정하고 캐주얼한 차림새를 하고있으며 친근하고 활동적인 느낌이 든다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친근하게 웃는 얼굴이 특징이며 그 모습이 마치 동네 이웃 같은 느낌을 전달해준다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짧게 정리한 머리와 큰 체격 때문에 듬직한 인상을 준다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인물 소개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현재는 평범한 회사원으로 살아가고있는 전직 유치원 버스기사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아이들과 잘 어울리고 밝은 성격 덕분에 유치원 내에서도 인기가 많았다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하지만 사고 당일 음주운전 차량과의 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	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충돌로 아이들을 지키지 못했고 그로 인해 스스로를 끝없이 죄인처럼 여기며 살아가고 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산장에는 한성미와 평범한 부부인 척 행동하고있다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여전히 사람 좋은 웃음을 짓고 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	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있지만 강한 죄책감과 자기혐오로 인해 마음의 병으로 곪아가고 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의도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사람들과 잘 어울리고 아이들을 좋아하던 평범한 사람이 한 차례의 사고 이후 무너져가는 모습을 표현하기위해 설정하였습니다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  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현재도 과거의 자신처럼 밝은 모습을 사람들에게 보여주려고 하지만 순간순간 들어나는 경직된 모습으로 그 또한 과거에서 빠져나오지 못하고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  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있음을 보여줍니다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한성미와 동일하게 본 사건에서 조력자 역할을 맡고 있습니다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CD53360-698E-F3DF-5950-36DAF778E8CF}"/>
              </a:ext>
            </a:extLst>
          </p:cNvPr>
          <p:cNvSpPr txBox="1"/>
          <p:nvPr/>
        </p:nvSpPr>
        <p:spPr>
          <a:xfrm>
            <a:off x="18135600" y="130302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algn="r">
              <a:lnSpc>
                <a:spcPct val="103749"/>
              </a:lnSpc>
            </a:pPr>
            <a:r>
              <a:rPr lang="ko-KR" altLang="en-US" sz="2100" i="1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정의란 무엇인가</a:t>
            </a:r>
            <a:endParaRPr lang="en-US" sz="2100" b="0" i="1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E668E95D-2993-B236-A9CF-84B264EC7B09}"/>
              </a:ext>
            </a:extLst>
          </p:cNvPr>
          <p:cNvSpPr txBox="1"/>
          <p:nvPr/>
        </p:nvSpPr>
        <p:spPr>
          <a:xfrm>
            <a:off x="1355034" y="2654300"/>
            <a:ext cx="7865165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665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등장인물 </a:t>
            </a:r>
            <a:r>
              <a:rPr lang="en-US" altLang="ko-KR" sz="665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 </a:t>
            </a:r>
            <a:r>
              <a:rPr lang="ko-KR" altLang="en-US" sz="665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박상구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FF94FA-58F9-5BC2-73E4-E9F52C28F696}"/>
              </a:ext>
            </a:extLst>
          </p:cNvPr>
          <p:cNvSpPr txBox="1"/>
          <p:nvPr/>
        </p:nvSpPr>
        <p:spPr>
          <a:xfrm>
            <a:off x="1054100" y="736600"/>
            <a:ext cx="33655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5000" b="1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기획 의도</a:t>
            </a:r>
            <a:endParaRPr lang="en-US" sz="5000" b="1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05F8DD61-F891-8888-61A4-D72D4658C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1892300"/>
            <a:ext cx="22352000" cy="25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90B934-3858-0A0A-460F-3A924946BA21}"/>
              </a:ext>
            </a:extLst>
          </p:cNvPr>
          <p:cNvSpPr txBox="1"/>
          <p:nvPr/>
        </p:nvSpPr>
        <p:spPr>
          <a:xfrm>
            <a:off x="1054100" y="3556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>
              <a:lnSpc>
                <a:spcPct val="103749"/>
              </a:lnSpc>
            </a:pPr>
            <a:r>
              <a:rPr lang="en-US" altLang="ko-KR" sz="2100" b="0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Chapter 1</a:t>
            </a:r>
            <a:endParaRPr lang="ko-KR" altLang="en-US" sz="2100" b="0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76162D-FB44-F4ED-B98E-BD5B06F6FB33}"/>
              </a:ext>
            </a:extLst>
          </p:cNvPr>
          <p:cNvSpPr txBox="1"/>
          <p:nvPr/>
        </p:nvSpPr>
        <p:spPr>
          <a:xfrm>
            <a:off x="18821400" y="11891525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Pretendard Regular" panose="020B0600000101010101" charset="-127"/>
                <a:ea typeface="Pretendard Regular" panose="020B0600000101010101" charset="-127"/>
              </a:rPr>
              <a:t>박상구 이미지 예시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EFBC032-BDAC-F688-79F0-E2E20A5D6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1400" y="7983351"/>
            <a:ext cx="3801005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868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B142B-F8C1-7AB9-A31E-1F7F97976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26C352A6-E3B7-C7FF-F2E2-F9AE64A71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761FD4DF-BE06-3D86-12D5-02BBBE16D83D}"/>
              </a:ext>
            </a:extLst>
          </p:cNvPr>
          <p:cNvSpPr txBox="1"/>
          <p:nvPr/>
        </p:nvSpPr>
        <p:spPr>
          <a:xfrm>
            <a:off x="1355035" y="4127430"/>
            <a:ext cx="22072600" cy="791216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직업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 목수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(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전직 의사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나이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42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세 남성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외형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거칠고 무거운 분위기를 가진 남성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말수가 적고 감정을 거의 드러내지 않으며 오래된 작업복과 두꺼운 장갑을 착용하고있다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짧게 자른 머리와 수염이 자라난 얼굴은 관리 되지 않는 듯 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  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보이며 눈빛은 날카롭지만 어딘가 공허하다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인물 소개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과거 응급의학과 의사로 일하던 인물로 사고 당일 병원으로 실려온 아이들 사이에서 자신의 아이를 마주하게 되었고 자신의 손으로 자식의 사망판정을 내려야만 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이후 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	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의사직을 내려놓고 병원을 떠났으며 산속에서 조용히 목수일을 하며 지내고있다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아내와는 합의 의혼을 하였으며 사람들과의 관계를 대부분 끊은채 살아가고 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	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 필요한 말 외에는 거의 하지 않는다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범행에 필요한 흉기를 준비하는 역할을 맡고있다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의도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사람을 살리는 직업을 가졌음에도 정작 가장 소중한 사람을 살리지 못해 그동안 자신이 쌓아온 능력을 부정하게되는 인물을 표현하고자 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  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했습니다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목수라는 직업은 과거 사람들을 살리기위한 따뜻했던 손이 이제는 생명과는 거리가 먼 무생물을 다루게 되었음을 의미하며 항상 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          사람들과 몸을 부대끼던 일상에서 자연과 하나되어 살아가는 모습으로 그의 마음이 차갑게 매말랐음을 표현하고자 했습니다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  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목수라는 직업상 흉기가 될만한 물건들을 쉽게 소지할 수 있으며 의사였던 경험을 활용해 약과 신체의 급소를 쉽게 파악 할 수 있습니다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  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본 작품에서 범행에 사용되는 물품들을 조달하는 역할을 하고있습니다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E841D56-8E5B-5ADB-4689-74F94BCDCE07}"/>
              </a:ext>
            </a:extLst>
          </p:cNvPr>
          <p:cNvSpPr txBox="1"/>
          <p:nvPr/>
        </p:nvSpPr>
        <p:spPr>
          <a:xfrm>
            <a:off x="18135600" y="130302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algn="r">
              <a:lnSpc>
                <a:spcPct val="103749"/>
              </a:lnSpc>
            </a:pPr>
            <a:r>
              <a:rPr lang="ko-KR" altLang="en-US" sz="2100" i="1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정의란 무엇인가</a:t>
            </a:r>
            <a:endParaRPr lang="en-US" sz="2100" b="0" i="1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4867CAB1-51E5-CE89-BC69-B6296CCB165A}"/>
              </a:ext>
            </a:extLst>
          </p:cNvPr>
          <p:cNvSpPr txBox="1"/>
          <p:nvPr/>
        </p:nvSpPr>
        <p:spPr>
          <a:xfrm>
            <a:off x="1355034" y="2654300"/>
            <a:ext cx="7865165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665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등장인물 </a:t>
            </a:r>
            <a:r>
              <a:rPr lang="en-US" altLang="ko-KR" sz="665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 </a:t>
            </a:r>
            <a:r>
              <a:rPr lang="ko-KR" altLang="en-US" sz="665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윤태식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555CF-D062-4402-3CC2-64AE24384E50}"/>
              </a:ext>
            </a:extLst>
          </p:cNvPr>
          <p:cNvSpPr txBox="1"/>
          <p:nvPr/>
        </p:nvSpPr>
        <p:spPr>
          <a:xfrm>
            <a:off x="1054100" y="736600"/>
            <a:ext cx="33655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5000" b="1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기획 의도</a:t>
            </a:r>
            <a:endParaRPr lang="en-US" sz="5000" b="1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C797964F-74C1-EA31-53AC-589241A43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1892300"/>
            <a:ext cx="22352000" cy="25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BB839B-7941-3D12-F44C-0F79011C024B}"/>
              </a:ext>
            </a:extLst>
          </p:cNvPr>
          <p:cNvSpPr txBox="1"/>
          <p:nvPr/>
        </p:nvSpPr>
        <p:spPr>
          <a:xfrm>
            <a:off x="1054100" y="3556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>
              <a:lnSpc>
                <a:spcPct val="103749"/>
              </a:lnSpc>
            </a:pPr>
            <a:r>
              <a:rPr lang="en-US" altLang="ko-KR" sz="2100" b="0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Chapter 1</a:t>
            </a:r>
            <a:endParaRPr lang="ko-KR" altLang="en-US" sz="2100" b="0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B44579-236C-6DDB-42E9-F7073020D28A}"/>
              </a:ext>
            </a:extLst>
          </p:cNvPr>
          <p:cNvSpPr txBox="1"/>
          <p:nvPr/>
        </p:nvSpPr>
        <p:spPr>
          <a:xfrm>
            <a:off x="18821400" y="11891525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Pretendard Regular" panose="020B0600000101010101" charset="-127"/>
                <a:ea typeface="Pretendard Regular" panose="020B0600000101010101" charset="-127"/>
              </a:rPr>
              <a:t>윤태식 이미지 예시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8A6160E-8A9F-AE51-41F3-3FBF6B5E8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3800" y="8206628"/>
            <a:ext cx="3020664" cy="353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693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34E56-08A0-B151-94F9-05A27D9F5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5BBC5F57-02EC-4607-68AD-760B8EACF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ABBF3061-F990-DFFF-D363-A852F21C6C70}"/>
              </a:ext>
            </a:extLst>
          </p:cNvPr>
          <p:cNvSpPr txBox="1"/>
          <p:nvPr/>
        </p:nvSpPr>
        <p:spPr>
          <a:xfrm>
            <a:off x="1355035" y="4127430"/>
            <a:ext cx="22072600" cy="791216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직업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 산장 주인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(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전직 경찰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나이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72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세 남성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외형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차갑고 무게감이 느껴지는 노인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짧고 희끗한 머리와 깊게 패인 주름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,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거칠게 갈라진 피부에서 오랜 세월의 흔적을 엿볼 수 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낡은 패딩과 작업복 차림을 자주 하고 있으며 움직임은 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 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느리지만 산속 생활에 익숙한듯 효율적으로 행동한다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인물 소개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젊은시절 경찰로 근무하던 인물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오랜 시간 경찰로 살아오면서 법과 원칙을 중요하게 여겼고 자신의 직업에 큰 자부심을 가지고 살아왔다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정년퇴직 이후에는 일찍 세상을 타개한 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	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자식 부부 댇신 손주를 돌보는 낙으로 살아갔다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하지만 사고로인해 마지막 남은 가족을 잃게 되고 진범인 강민혁이 정의의 심판을 받을것이라 생각했던 것과 달리 법망을 피해 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	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도망가자 자신이 평생 믿어왔던 법과 정의에 회의감을 느끼게 된다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이후 산장을 운영하며 본 게임의 범행 계획을 세우게된다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	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동시에 범행이 들어날 경우 자신이 모든 죄를 떠안고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갈 생각을 하고있다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의도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평생 법과 정의를 믿으며 살아왔던 인간이 하나의 사건으로 인하여 평생의 믿음이 흔들릴 수 있음을 표현하고 싶었습니다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 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플레이어가 게임을 진행하면서 범인을 추론할 때 최우선적으로 고르게 되는 인물로 기획하였으며 이또한 살 날이 얼마 남지 않은 자신이 모든</a:t>
            </a:r>
            <a:br>
              <a:rPr lang="en-US" altLang="ko-KR" sz="2400">
                <a:latin typeface="Pretendard Regular"/>
                <a:ea typeface="Pretendard Regular"/>
                <a:cs typeface="Calibri"/>
              </a:rPr>
            </a:b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 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죄업을 짊어지고 간다는 그의 계획의 범주에 들어있습니다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따라서 호기롭게 그를 범인으로 지목하게 된다면 이는 진실을 보지 못한 엔딩이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 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될 것입니다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다른 등장인물보다 범행에 앞장서도 책임을 지는 일을 하게됩니다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400">
              <a:latin typeface="Pretendard Regular"/>
              <a:ea typeface="Pretendard Regular"/>
              <a:cs typeface="Calibri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9982748-84CC-F72C-CFDA-65C21C2272D5}"/>
              </a:ext>
            </a:extLst>
          </p:cNvPr>
          <p:cNvSpPr txBox="1"/>
          <p:nvPr/>
        </p:nvSpPr>
        <p:spPr>
          <a:xfrm>
            <a:off x="18135600" y="130302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algn="r">
              <a:lnSpc>
                <a:spcPct val="103749"/>
              </a:lnSpc>
            </a:pPr>
            <a:r>
              <a:rPr lang="ko-KR" altLang="en-US" sz="2100" i="1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정의란 무엇인가</a:t>
            </a:r>
            <a:endParaRPr lang="en-US" sz="2100" b="0" i="1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890867FD-1349-A514-1A0F-C7C400A54D67}"/>
              </a:ext>
            </a:extLst>
          </p:cNvPr>
          <p:cNvSpPr txBox="1"/>
          <p:nvPr/>
        </p:nvSpPr>
        <p:spPr>
          <a:xfrm>
            <a:off x="1355034" y="2654300"/>
            <a:ext cx="7865165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665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등장인물 </a:t>
            </a:r>
            <a:r>
              <a:rPr lang="en-US" altLang="ko-KR" sz="665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 </a:t>
            </a:r>
            <a:r>
              <a:rPr lang="ko-KR" altLang="en-US" sz="665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최현도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EB54F0-03F9-22EE-A3C6-229D09FF8642}"/>
              </a:ext>
            </a:extLst>
          </p:cNvPr>
          <p:cNvSpPr txBox="1"/>
          <p:nvPr/>
        </p:nvSpPr>
        <p:spPr>
          <a:xfrm>
            <a:off x="1054100" y="736600"/>
            <a:ext cx="33655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5000" b="1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기획 의도</a:t>
            </a:r>
            <a:endParaRPr lang="en-US" sz="5000" b="1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0973A796-2C77-C2A6-EF6C-FBBAC4D2C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1892300"/>
            <a:ext cx="22352000" cy="25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DB0112-6FC2-98D5-CA45-BB350F721057}"/>
              </a:ext>
            </a:extLst>
          </p:cNvPr>
          <p:cNvSpPr txBox="1"/>
          <p:nvPr/>
        </p:nvSpPr>
        <p:spPr>
          <a:xfrm>
            <a:off x="1054100" y="3556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>
              <a:lnSpc>
                <a:spcPct val="103749"/>
              </a:lnSpc>
            </a:pPr>
            <a:r>
              <a:rPr lang="en-US" altLang="ko-KR" sz="2100" b="0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Chapter 1</a:t>
            </a:r>
            <a:endParaRPr lang="ko-KR" altLang="en-US" sz="2100" b="0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8E34BB-4EE0-0687-A582-73DA2B3D8A1C}"/>
              </a:ext>
            </a:extLst>
          </p:cNvPr>
          <p:cNvSpPr txBox="1"/>
          <p:nvPr/>
        </p:nvSpPr>
        <p:spPr>
          <a:xfrm>
            <a:off x="18821400" y="11891525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Pretendard Regular" panose="020B0600000101010101" charset="-127"/>
                <a:ea typeface="Pretendard Regular" panose="020B0600000101010101" charset="-127"/>
              </a:rPr>
              <a:t>최현도 이미지 예시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7EA225A-0D8E-853F-7FAC-17F5B2530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6312" y="7747572"/>
            <a:ext cx="4477375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525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B3FA1-62FE-C396-743F-14B3BA24B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8C953DDB-D673-C830-5C18-B8484C860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5B1CD700-460C-5C50-F1C3-4B41F706AB4F}"/>
              </a:ext>
            </a:extLst>
          </p:cNvPr>
          <p:cNvSpPr txBox="1"/>
          <p:nvPr/>
        </p:nvSpPr>
        <p:spPr>
          <a:xfrm>
            <a:off x="1355035" y="4127430"/>
            <a:ext cx="22072600" cy="791216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직업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 방송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PD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나이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33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세 여성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외형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세련되고 도시적인 분위기의 여성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깔끔한 중단발과 튀지않는 메이크업이 인상적이다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단정한 세미정장을 주로 입는다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인물 소개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강민혁의 복귀 다큐멘터리를 담당하고 있는 방송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PD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로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5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년 전 사고로 자식을 잃은 피해자 중 한 명이다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언젠가 그가 방송계에 돌아올 것을 직감하고 와신상담하며 방송계에서 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         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자신의 지위를 높였다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이후 그의 복귀 소식에 복수 계획을 짜던 도중 최현도와 연이 닿아 이번 프로그램을 기획한다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그와 마주하고 있을땐 비위를 맞추며 사근사근 행동하지만 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        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실제론 강한 증오심을 숨기고있다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의도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언젠가 찾아올 복수의 기회를 위해 오랜 시간 자신의 감정과 분노를 숨긴 채 살아온 인간을 표현하기 위해 해당 설정을 사용하였습니다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 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그리고 그 기회가 찾아왔을때 망설임 없이 잡은 인물입니다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복수를 위해 관련된 자들을 물색했고 현 사건을 전부 기획하였습니다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 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그녀가 짠 계획에서 달라진 것은 죄를 최현도가 가지고 가는것과 플레이어의 등장입니다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 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복수를 위해서라면 어디까지 할 수 있는가 를 보여주고자 만든 인물입니다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4F3B2E5-EB07-1296-56FB-902C1F84130F}"/>
              </a:ext>
            </a:extLst>
          </p:cNvPr>
          <p:cNvSpPr txBox="1"/>
          <p:nvPr/>
        </p:nvSpPr>
        <p:spPr>
          <a:xfrm>
            <a:off x="18135600" y="130302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algn="r">
              <a:lnSpc>
                <a:spcPct val="103749"/>
              </a:lnSpc>
            </a:pPr>
            <a:r>
              <a:rPr lang="ko-KR" altLang="en-US" sz="2100" i="1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정의란 무엇인가</a:t>
            </a:r>
            <a:endParaRPr lang="en-US" sz="2100" b="0" i="1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5B563654-8940-840A-D2AB-806EE754620E}"/>
              </a:ext>
            </a:extLst>
          </p:cNvPr>
          <p:cNvSpPr txBox="1"/>
          <p:nvPr/>
        </p:nvSpPr>
        <p:spPr>
          <a:xfrm>
            <a:off x="1355034" y="2654300"/>
            <a:ext cx="7865165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665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등장인물 </a:t>
            </a:r>
            <a:r>
              <a:rPr lang="en-US" altLang="ko-KR" sz="665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 </a:t>
            </a:r>
            <a:r>
              <a:rPr lang="ko-KR" altLang="en-US" sz="665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서지아</a:t>
            </a:r>
            <a:endParaRPr lang="ko-KR" altLang="en-US" sz="6650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008CB-F0CB-D8A4-A979-17309E9A59ED}"/>
              </a:ext>
            </a:extLst>
          </p:cNvPr>
          <p:cNvSpPr txBox="1"/>
          <p:nvPr/>
        </p:nvSpPr>
        <p:spPr>
          <a:xfrm>
            <a:off x="1054100" y="736600"/>
            <a:ext cx="33655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5000" b="1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기획 의도</a:t>
            </a:r>
            <a:endParaRPr lang="en-US" sz="5000" b="1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350607F0-5477-13D1-1D5C-2EB66E560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1892300"/>
            <a:ext cx="22352000" cy="25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07782D-F62F-1E1F-1FF4-14C8D06D5448}"/>
              </a:ext>
            </a:extLst>
          </p:cNvPr>
          <p:cNvSpPr txBox="1"/>
          <p:nvPr/>
        </p:nvSpPr>
        <p:spPr>
          <a:xfrm>
            <a:off x="1054100" y="3556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>
              <a:lnSpc>
                <a:spcPct val="103749"/>
              </a:lnSpc>
            </a:pPr>
            <a:r>
              <a:rPr lang="en-US" altLang="ko-KR" sz="2100" b="0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Chapter 1</a:t>
            </a:r>
            <a:endParaRPr lang="ko-KR" altLang="en-US" sz="2100" b="0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4171C5-5CA1-ED39-6746-BF0216710011}"/>
              </a:ext>
            </a:extLst>
          </p:cNvPr>
          <p:cNvSpPr txBox="1"/>
          <p:nvPr/>
        </p:nvSpPr>
        <p:spPr>
          <a:xfrm>
            <a:off x="18821400" y="11891525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Pretendard Regular" panose="020B0600000101010101" charset="-127"/>
                <a:ea typeface="Pretendard Regular" panose="020B0600000101010101" charset="-127"/>
              </a:rPr>
              <a:t>서지아 이미지 예시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083F400-93E6-71F5-4E96-1E9FE2020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7600" y="8096766"/>
            <a:ext cx="3658111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450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49A5A-5F61-0D2D-061B-1C55263EF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28963078-7639-105D-B00F-0914E34A2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74A82C61-202F-6DA3-7DBD-F7F714AE9FA1}"/>
              </a:ext>
            </a:extLst>
          </p:cNvPr>
          <p:cNvSpPr txBox="1"/>
          <p:nvPr/>
        </p:nvSpPr>
        <p:spPr>
          <a:xfrm>
            <a:off x="1355035" y="4127430"/>
            <a:ext cx="22072600" cy="791216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직업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 가이드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[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전직 회사원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나이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36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세 여성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외형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밝고 활동적인 분위기를 가진 여성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가이드라는 직업답게 사람들에게 좋은 인상을 주는 단정하고 세련된 스타일을 하고 있으며 깔끔하게 정리된 머리와 자연스러운 메이크업이 특징이다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인물 소개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평범한 회사원이었던 인물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사고로 자식을 잃고 남편은 그 충격을 못이겨 우울증 끝에 스스로 목숨을 끊었다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가족을 모두 잃은 그녀는 한동안 삶에 대한 의욕과 목적을 잃어버린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	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채 자포자기한 삶을 살게되었다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그러던중 서지아의 접촉으로 그녀의 계획을 알게되었고 자신을 이용해달라며 가이드 일을 시작하게 된다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현재의 밝고 활발한 모습은 연기에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	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 가까우며 서지아의 계획이 성공하기만을 기원하고있다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 </a:t>
            </a:r>
            <a:endParaRPr lang="en-US" altLang="ko-KR" sz="2400">
              <a:latin typeface="Pretendard Regular"/>
              <a:ea typeface="Pretendard Regular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2400">
                <a:latin typeface="Pretendard Regular"/>
                <a:ea typeface="Pretendard Regular"/>
                <a:cs typeface="Calibri"/>
              </a:rPr>
              <a:t>의도 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우리 주변에서 흔하게 볼 수 있는 평범한 사람이 한 순간에 삶 전체가 무너질 수 있다는 점을 보여주고자 했습니다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 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동시에 이렇게 평범한 사람도 마음먹기에 따라 얼마나 스스로를 변화시킬 수 있는 보여주는 것이 목표입니다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>
                <a:latin typeface="Pretendard Regular"/>
                <a:ea typeface="Pretendard Regular"/>
                <a:cs typeface="Calibri"/>
              </a:rPr>
              <a:t>         </a:t>
            </a:r>
            <a:r>
              <a:rPr lang="ko-KR" altLang="en-US" sz="2400">
                <a:latin typeface="Pretendard Regular"/>
                <a:ea typeface="Pretendard Regular"/>
                <a:cs typeface="Calibri"/>
              </a:rPr>
              <a:t>본 작품에서 수동적인 인물로 표현되며 복수를 원하지만 타인의 의지에 의탁하는 모습을 보여줍니다</a:t>
            </a:r>
            <a:r>
              <a:rPr lang="en-US" altLang="ko-KR" sz="2400">
                <a:latin typeface="Pretendard Regular"/>
                <a:ea typeface="Pretendard Regular"/>
                <a:cs typeface="Calibri"/>
              </a:rPr>
              <a:t>.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EC0EE4E-239C-CEC2-CEE1-6E94BE1DC7A6}"/>
              </a:ext>
            </a:extLst>
          </p:cNvPr>
          <p:cNvSpPr txBox="1"/>
          <p:nvPr/>
        </p:nvSpPr>
        <p:spPr>
          <a:xfrm>
            <a:off x="18135600" y="130302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algn="r">
              <a:lnSpc>
                <a:spcPct val="103749"/>
              </a:lnSpc>
            </a:pPr>
            <a:r>
              <a:rPr lang="ko-KR" altLang="en-US" sz="2100" i="1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정의란 무엇인가</a:t>
            </a:r>
            <a:endParaRPr lang="en-US" sz="2100" b="0" i="1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78B9B46B-4541-F966-3CA3-57F07BAAEFD1}"/>
              </a:ext>
            </a:extLst>
          </p:cNvPr>
          <p:cNvSpPr txBox="1"/>
          <p:nvPr/>
        </p:nvSpPr>
        <p:spPr>
          <a:xfrm>
            <a:off x="1355034" y="2654300"/>
            <a:ext cx="7865165" cy="1181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665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등장인물 </a:t>
            </a:r>
            <a:r>
              <a:rPr lang="en-US" altLang="ko-KR" sz="665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- </a:t>
            </a:r>
            <a:r>
              <a:rPr lang="ko-KR" altLang="en-US" sz="665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이수진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5947E9-D910-012B-F9C2-C8633CDDBFFF}"/>
              </a:ext>
            </a:extLst>
          </p:cNvPr>
          <p:cNvSpPr txBox="1"/>
          <p:nvPr/>
        </p:nvSpPr>
        <p:spPr>
          <a:xfrm>
            <a:off x="1054100" y="736600"/>
            <a:ext cx="33655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5000" b="1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기획 의도</a:t>
            </a:r>
            <a:endParaRPr lang="en-US" sz="5000" b="1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DA3554DA-580B-CFEC-DEC5-AB9A0E6F2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1892300"/>
            <a:ext cx="22352000" cy="25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7BE514-BAFF-D5AA-1F1C-2784106A59D6}"/>
              </a:ext>
            </a:extLst>
          </p:cNvPr>
          <p:cNvSpPr txBox="1"/>
          <p:nvPr/>
        </p:nvSpPr>
        <p:spPr>
          <a:xfrm>
            <a:off x="1054100" y="3556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>
              <a:lnSpc>
                <a:spcPct val="103749"/>
              </a:lnSpc>
            </a:pPr>
            <a:r>
              <a:rPr lang="en-US" altLang="ko-KR" sz="2100" b="0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Chapter 1</a:t>
            </a:r>
            <a:endParaRPr lang="ko-KR" altLang="en-US" sz="2100" b="0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AED46E-06FB-5A0D-92F8-B24223CD89F5}"/>
              </a:ext>
            </a:extLst>
          </p:cNvPr>
          <p:cNvSpPr txBox="1"/>
          <p:nvPr/>
        </p:nvSpPr>
        <p:spPr>
          <a:xfrm>
            <a:off x="18821400" y="11891525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Pretendard Regular" panose="020B0600000101010101" charset="-127"/>
                <a:ea typeface="Pretendard Regular" panose="020B0600000101010101" charset="-127"/>
              </a:rPr>
              <a:t>이수진 이미지 예시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62E24AB-C4BD-C5B9-848F-B0014DDBE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1461" y="8220575"/>
            <a:ext cx="2772162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267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91F19-A26A-EF4F-5350-570F8E0C8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>
            <a:extLst>
              <a:ext uri="{FF2B5EF4-FFF2-40B4-BE49-F238E27FC236}">
                <a16:creationId xmlns:a16="http://schemas.microsoft.com/office/drawing/2014/main" id="{51B18D39-50F5-B851-C0B8-C58B6CA1F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10907FC6-E043-7C16-61B1-D987F371F1E8}"/>
              </a:ext>
            </a:extLst>
          </p:cNvPr>
          <p:cNvSpPr txBox="1"/>
          <p:nvPr/>
        </p:nvSpPr>
        <p:spPr>
          <a:xfrm>
            <a:off x="18135600" y="130302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algn="r">
              <a:lnSpc>
                <a:spcPct val="103749"/>
              </a:lnSpc>
            </a:pPr>
            <a:r>
              <a:rPr lang="ko-KR" altLang="en-US" sz="2100" i="1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정의란 무엇인가</a:t>
            </a:r>
            <a:endParaRPr lang="en-US" sz="2100" b="0" i="1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A8DF34-8D95-12EC-5907-60075762E734}"/>
              </a:ext>
            </a:extLst>
          </p:cNvPr>
          <p:cNvSpPr txBox="1"/>
          <p:nvPr/>
        </p:nvSpPr>
        <p:spPr>
          <a:xfrm>
            <a:off x="1054100" y="736600"/>
            <a:ext cx="33655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5000" b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개발 일정</a:t>
            </a:r>
            <a:endParaRPr lang="en-US" sz="5000" b="1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3B4ABFB5-16F3-50E3-DE21-59C3D15AD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1892300"/>
            <a:ext cx="22352000" cy="25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EEABF4-B113-17C5-2E95-9BF12111D5BB}"/>
              </a:ext>
            </a:extLst>
          </p:cNvPr>
          <p:cNvSpPr txBox="1"/>
          <p:nvPr/>
        </p:nvSpPr>
        <p:spPr>
          <a:xfrm>
            <a:off x="1054100" y="355600"/>
            <a:ext cx="5638800" cy="3810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>
              <a:lnSpc>
                <a:spcPct val="103749"/>
              </a:lnSpc>
            </a:pPr>
            <a:r>
              <a:rPr lang="en-US" altLang="ko-KR" sz="2100" b="0" u="none" strike="noStrike">
                <a:solidFill>
                  <a:srgbClr val="C2C2C2"/>
                </a:solidFill>
                <a:latin typeface="Libre Bodoni Regular"/>
                <a:ea typeface="Libre Bodoni Regular"/>
                <a:cs typeface="Libre Bodoni Regular"/>
              </a:rPr>
              <a:t>Chapter 1</a:t>
            </a:r>
            <a:endParaRPr lang="ko-KR" altLang="en-US" sz="2100" b="0" u="none" strike="noStrike">
              <a:solidFill>
                <a:srgbClr val="C2C2C2"/>
              </a:solidFill>
              <a:latin typeface="Libre Bodoni Regular"/>
              <a:ea typeface="Libre Bodoni Regular"/>
              <a:cs typeface="Libre Bodoni Regular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F657A82-5AE8-C1D3-FFC6-B86A2797C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582005"/>
              </p:ext>
            </p:extLst>
          </p:nvPr>
        </p:nvGraphicFramePr>
        <p:xfrm>
          <a:off x="1045816" y="2133600"/>
          <a:ext cx="22322188" cy="10488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02184">
                  <a:extLst>
                    <a:ext uri="{9D8B030D-6E8A-4147-A177-3AD203B41FA5}">
                      <a16:colId xmlns:a16="http://schemas.microsoft.com/office/drawing/2014/main" val="2819055149"/>
                    </a:ext>
                  </a:extLst>
                </a:gridCol>
                <a:gridCol w="1390571">
                  <a:extLst>
                    <a:ext uri="{9D8B030D-6E8A-4147-A177-3AD203B41FA5}">
                      <a16:colId xmlns:a16="http://schemas.microsoft.com/office/drawing/2014/main" val="1699736598"/>
                    </a:ext>
                  </a:extLst>
                </a:gridCol>
                <a:gridCol w="1390571">
                  <a:extLst>
                    <a:ext uri="{9D8B030D-6E8A-4147-A177-3AD203B41FA5}">
                      <a16:colId xmlns:a16="http://schemas.microsoft.com/office/drawing/2014/main" val="3860214606"/>
                    </a:ext>
                  </a:extLst>
                </a:gridCol>
                <a:gridCol w="1594442">
                  <a:extLst>
                    <a:ext uri="{9D8B030D-6E8A-4147-A177-3AD203B41FA5}">
                      <a16:colId xmlns:a16="http://schemas.microsoft.com/office/drawing/2014/main" val="705800488"/>
                    </a:ext>
                  </a:extLst>
                </a:gridCol>
                <a:gridCol w="1594442">
                  <a:extLst>
                    <a:ext uri="{9D8B030D-6E8A-4147-A177-3AD203B41FA5}">
                      <a16:colId xmlns:a16="http://schemas.microsoft.com/office/drawing/2014/main" val="2327538728"/>
                    </a:ext>
                  </a:extLst>
                </a:gridCol>
                <a:gridCol w="1594442">
                  <a:extLst>
                    <a:ext uri="{9D8B030D-6E8A-4147-A177-3AD203B41FA5}">
                      <a16:colId xmlns:a16="http://schemas.microsoft.com/office/drawing/2014/main" val="4177393781"/>
                    </a:ext>
                  </a:extLst>
                </a:gridCol>
                <a:gridCol w="1594442">
                  <a:extLst>
                    <a:ext uri="{9D8B030D-6E8A-4147-A177-3AD203B41FA5}">
                      <a16:colId xmlns:a16="http://schemas.microsoft.com/office/drawing/2014/main" val="2042252878"/>
                    </a:ext>
                  </a:extLst>
                </a:gridCol>
                <a:gridCol w="1594442">
                  <a:extLst>
                    <a:ext uri="{9D8B030D-6E8A-4147-A177-3AD203B41FA5}">
                      <a16:colId xmlns:a16="http://schemas.microsoft.com/office/drawing/2014/main" val="3620636393"/>
                    </a:ext>
                  </a:extLst>
                </a:gridCol>
                <a:gridCol w="1594442">
                  <a:extLst>
                    <a:ext uri="{9D8B030D-6E8A-4147-A177-3AD203B41FA5}">
                      <a16:colId xmlns:a16="http://schemas.microsoft.com/office/drawing/2014/main" val="3062874193"/>
                    </a:ext>
                  </a:extLst>
                </a:gridCol>
                <a:gridCol w="1594442">
                  <a:extLst>
                    <a:ext uri="{9D8B030D-6E8A-4147-A177-3AD203B41FA5}">
                      <a16:colId xmlns:a16="http://schemas.microsoft.com/office/drawing/2014/main" val="222867462"/>
                    </a:ext>
                  </a:extLst>
                </a:gridCol>
                <a:gridCol w="1594442">
                  <a:extLst>
                    <a:ext uri="{9D8B030D-6E8A-4147-A177-3AD203B41FA5}">
                      <a16:colId xmlns:a16="http://schemas.microsoft.com/office/drawing/2014/main" val="2247697834"/>
                    </a:ext>
                  </a:extLst>
                </a:gridCol>
                <a:gridCol w="1594442">
                  <a:extLst>
                    <a:ext uri="{9D8B030D-6E8A-4147-A177-3AD203B41FA5}">
                      <a16:colId xmlns:a16="http://schemas.microsoft.com/office/drawing/2014/main" val="2023280857"/>
                    </a:ext>
                  </a:extLst>
                </a:gridCol>
                <a:gridCol w="1594442">
                  <a:extLst>
                    <a:ext uri="{9D8B030D-6E8A-4147-A177-3AD203B41FA5}">
                      <a16:colId xmlns:a16="http://schemas.microsoft.com/office/drawing/2014/main" val="498236647"/>
                    </a:ext>
                  </a:extLst>
                </a:gridCol>
                <a:gridCol w="1594442">
                  <a:extLst>
                    <a:ext uri="{9D8B030D-6E8A-4147-A177-3AD203B41FA5}">
                      <a16:colId xmlns:a16="http://schemas.microsoft.com/office/drawing/2014/main" val="1526541315"/>
                    </a:ext>
                  </a:extLst>
                </a:gridCol>
              </a:tblGrid>
              <a:tr h="87401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항목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시작 날짜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종료 날짜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프로젝트</a:t>
                      </a:r>
                      <a:endParaRPr lang="en-US" altLang="ko-KR"/>
                    </a:p>
                    <a:p>
                      <a:pPr algn="ctr" latinLnBrk="1"/>
                      <a:r>
                        <a:rPr lang="ko-KR" altLang="en-US"/>
                        <a:t>진행 상황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5</a:t>
                      </a:r>
                      <a:r>
                        <a:rPr lang="ko-KR" altLang="en-US"/>
                        <a:t>월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6</a:t>
                      </a:r>
                      <a:r>
                        <a:rPr lang="ko-KR" altLang="en-US"/>
                        <a:t>월</a:t>
                      </a:r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7</a:t>
                      </a:r>
                      <a:r>
                        <a:rPr lang="ko-KR" altLang="en-US"/>
                        <a:t>월</a:t>
                      </a:r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7591592"/>
                  </a:ext>
                </a:extLst>
              </a:tr>
              <a:tr h="8740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5</a:t>
                      </a:r>
                      <a:r>
                        <a:rPr lang="ko-KR" altLang="en-US"/>
                        <a:t>월 </a:t>
                      </a:r>
                      <a:r>
                        <a:rPr lang="en-US" altLang="ko-KR"/>
                        <a:t>1</a:t>
                      </a:r>
                      <a:r>
                        <a:rPr lang="ko-KR" altLang="en-US"/>
                        <a:t>주차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5</a:t>
                      </a:r>
                      <a:r>
                        <a:rPr lang="ko-KR" altLang="en-US"/>
                        <a:t>월 </a:t>
                      </a:r>
                      <a:r>
                        <a:rPr lang="en-US" altLang="ko-KR"/>
                        <a:t>2</a:t>
                      </a:r>
                      <a:r>
                        <a:rPr lang="ko-KR" altLang="en-US"/>
                        <a:t>주차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5</a:t>
                      </a:r>
                      <a:r>
                        <a:rPr lang="ko-KR" altLang="en-US"/>
                        <a:t>월 </a:t>
                      </a:r>
                      <a:r>
                        <a:rPr lang="en-US" altLang="ko-KR"/>
                        <a:t>3</a:t>
                      </a:r>
                      <a:r>
                        <a:rPr lang="ko-KR" altLang="en-US"/>
                        <a:t>주차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5</a:t>
                      </a:r>
                      <a:r>
                        <a:rPr lang="ko-KR" altLang="en-US"/>
                        <a:t>월 </a:t>
                      </a:r>
                      <a:r>
                        <a:rPr lang="en-US" altLang="ko-KR"/>
                        <a:t>4</a:t>
                      </a:r>
                      <a:r>
                        <a:rPr lang="ko-KR" altLang="en-US"/>
                        <a:t>주차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6</a:t>
                      </a:r>
                      <a:r>
                        <a:rPr lang="ko-KR" altLang="en-US"/>
                        <a:t>월 </a:t>
                      </a:r>
                      <a:r>
                        <a:rPr lang="en-US" altLang="ko-KR"/>
                        <a:t>1</a:t>
                      </a:r>
                      <a:r>
                        <a:rPr lang="ko-KR" altLang="en-US"/>
                        <a:t>주차</a:t>
                      </a:r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6</a:t>
                      </a:r>
                      <a:r>
                        <a:rPr lang="ko-KR" altLang="en-US"/>
                        <a:t>월 </a:t>
                      </a:r>
                      <a:r>
                        <a:rPr lang="en-US" altLang="ko-KR"/>
                        <a:t>2</a:t>
                      </a:r>
                      <a:r>
                        <a:rPr lang="ko-KR" altLang="en-US"/>
                        <a:t>주차</a:t>
                      </a:r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6</a:t>
                      </a:r>
                      <a:r>
                        <a:rPr lang="ko-KR" altLang="en-US"/>
                        <a:t>월 </a:t>
                      </a:r>
                      <a:r>
                        <a:rPr lang="en-US" altLang="ko-KR"/>
                        <a:t>3</a:t>
                      </a:r>
                      <a:r>
                        <a:rPr lang="ko-KR" altLang="en-US"/>
                        <a:t>주차</a:t>
                      </a:r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6</a:t>
                      </a:r>
                      <a:r>
                        <a:rPr lang="ko-KR" altLang="en-US"/>
                        <a:t>월 </a:t>
                      </a:r>
                      <a:r>
                        <a:rPr lang="en-US" altLang="ko-KR"/>
                        <a:t>4</a:t>
                      </a:r>
                      <a:r>
                        <a:rPr lang="ko-KR" altLang="en-US"/>
                        <a:t>주차</a:t>
                      </a:r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7</a:t>
                      </a:r>
                      <a:r>
                        <a:rPr lang="ko-KR" altLang="en-US"/>
                        <a:t>월 </a:t>
                      </a:r>
                      <a:r>
                        <a:rPr lang="en-US" altLang="ko-KR"/>
                        <a:t>1</a:t>
                      </a:r>
                      <a:r>
                        <a:rPr lang="ko-KR" altLang="en-US"/>
                        <a:t>주차</a:t>
                      </a:r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7</a:t>
                      </a:r>
                      <a:r>
                        <a:rPr lang="ko-KR" altLang="en-US"/>
                        <a:t>월 </a:t>
                      </a:r>
                      <a:r>
                        <a:rPr lang="en-US" altLang="ko-KR"/>
                        <a:t>2</a:t>
                      </a:r>
                      <a:r>
                        <a:rPr lang="ko-KR" altLang="en-US"/>
                        <a:t>주차</a:t>
                      </a:r>
                    </a:p>
                  </a:txBody>
                  <a:tcPr anchor="ctr"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862483"/>
                  </a:ext>
                </a:extLst>
              </a:tr>
              <a:tr h="8740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기획 의도</a:t>
                      </a:r>
                      <a:r>
                        <a:rPr lang="en-US" altLang="ko-KR"/>
                        <a:t>,</a:t>
                      </a:r>
                      <a:r>
                        <a:rPr lang="ko-KR" altLang="en-US"/>
                        <a:t> </a:t>
                      </a:r>
                      <a:endParaRPr lang="en-US" altLang="ko-KR"/>
                    </a:p>
                    <a:p>
                      <a:pPr algn="ctr" latinLnBrk="1"/>
                      <a:r>
                        <a:rPr lang="ko-KR" altLang="en-US"/>
                        <a:t>핵심콘셉정리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26-05-05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26-05-07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진행중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8391671"/>
                  </a:ext>
                </a:extLst>
              </a:tr>
              <a:tr h="8740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등장인물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사건 </a:t>
                      </a:r>
                      <a:endParaRPr lang="en-US" altLang="ko-KR"/>
                    </a:p>
                    <a:p>
                      <a:pPr algn="ctr" latinLnBrk="1"/>
                      <a:r>
                        <a:rPr lang="ko-KR" altLang="en-US"/>
                        <a:t>타임라인 설계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26-05-05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진행중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9584744"/>
                  </a:ext>
                </a:extLst>
              </a:tr>
              <a:tr h="8740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단서</a:t>
                      </a:r>
                      <a:r>
                        <a:rPr lang="en-US" altLang="ko-KR"/>
                        <a:t>,</a:t>
                      </a:r>
                      <a:r>
                        <a:rPr lang="ko-KR" altLang="en-US"/>
                        <a:t> 알리바이</a:t>
                      </a:r>
                      <a:r>
                        <a:rPr lang="en-US" altLang="ko-KR"/>
                        <a:t>,</a:t>
                      </a:r>
                    </a:p>
                    <a:p>
                      <a:pPr algn="ctr" latinLnBrk="1"/>
                      <a:r>
                        <a:rPr lang="ko-KR" altLang="en-US"/>
                        <a:t>추리 구조 설계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미진행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3817"/>
                  </a:ext>
                </a:extLst>
              </a:tr>
              <a:tr h="8740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산장 맵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장소</a:t>
                      </a:r>
                      <a:endParaRPr lang="en-US" altLang="ko-KR"/>
                    </a:p>
                    <a:p>
                      <a:pPr algn="ctr" latinLnBrk="1"/>
                      <a:r>
                        <a:rPr lang="ko-KR" altLang="en-US"/>
                        <a:t>구성 설계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미진행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208047"/>
                  </a:ext>
                </a:extLst>
              </a:tr>
              <a:tr h="8740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대화 시스템 구현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미진행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662200"/>
                  </a:ext>
                </a:extLst>
              </a:tr>
              <a:tr h="8740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조사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단서 수집</a:t>
                      </a:r>
                      <a:endParaRPr lang="en-US" altLang="ko-KR"/>
                    </a:p>
                    <a:p>
                      <a:pPr algn="ctr" latinLnBrk="1"/>
                      <a:r>
                        <a:rPr lang="ko-KR" altLang="en-US"/>
                        <a:t>시스템 구현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미진행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8560673"/>
                  </a:ext>
                </a:extLst>
              </a:tr>
              <a:tr h="8740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추리 노트</a:t>
                      </a:r>
                      <a:r>
                        <a:rPr lang="en-US" altLang="ko-KR"/>
                        <a:t>,</a:t>
                      </a:r>
                    </a:p>
                    <a:p>
                      <a:pPr algn="ctr" latinLnBrk="1"/>
                      <a:r>
                        <a:rPr lang="ko-KR" altLang="en-US"/>
                        <a:t>증거 </a:t>
                      </a:r>
                      <a:r>
                        <a:rPr lang="en-US" altLang="ko-KR"/>
                        <a:t>UI </a:t>
                      </a:r>
                      <a:r>
                        <a:rPr lang="ko-KR" altLang="en-US"/>
                        <a:t>구현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미진행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1435201"/>
                  </a:ext>
                </a:extLst>
              </a:tr>
              <a:tr h="8740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캐릭터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배경</a:t>
                      </a:r>
                      <a:endParaRPr lang="en-US" altLang="ko-KR"/>
                    </a:p>
                    <a:p>
                      <a:pPr algn="ctr" latinLnBrk="1"/>
                      <a:r>
                        <a:rPr lang="ko-KR" altLang="en-US"/>
                        <a:t>리소스 제작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26-05-05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미진행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089964"/>
                  </a:ext>
                </a:extLst>
              </a:tr>
              <a:tr h="8740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주요 대사</a:t>
                      </a:r>
                      <a:r>
                        <a:rPr lang="en-US" altLang="ko-KR"/>
                        <a:t>,</a:t>
                      </a:r>
                    </a:p>
                    <a:p>
                      <a:pPr algn="ctr" latinLnBrk="1"/>
                      <a:r>
                        <a:rPr lang="ko-KR" altLang="en-US"/>
                        <a:t>엔딩 분기 작성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26-05-05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미진행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8666882"/>
                  </a:ext>
                </a:extLst>
              </a:tr>
              <a:tr h="8740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QA</a:t>
                      </a:r>
                      <a:endParaRPr lang="ko-KR" altLang="en-US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미진행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285709"/>
                  </a:ext>
                </a:extLst>
              </a:tr>
            </a:tbl>
          </a:graphicData>
        </a:graphic>
      </p:graphicFrame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C0577A2-5F1B-E29D-986B-F85DD41D2036}"/>
              </a:ext>
            </a:extLst>
          </p:cNvPr>
          <p:cNvCxnSpPr/>
          <p:nvPr/>
        </p:nvCxnSpPr>
        <p:spPr>
          <a:xfrm flipV="1">
            <a:off x="18516600" y="342888"/>
            <a:ext cx="1676400" cy="1271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4655DD6-6EF1-705E-8D9E-43531A2EED4D}"/>
              </a:ext>
            </a:extLst>
          </p:cNvPr>
          <p:cNvCxnSpPr/>
          <p:nvPr/>
        </p:nvCxnSpPr>
        <p:spPr>
          <a:xfrm flipV="1">
            <a:off x="18516600" y="1066800"/>
            <a:ext cx="1676400" cy="12712"/>
          </a:xfrm>
          <a:prstGeom prst="line">
            <a:avLst/>
          </a:prstGeom>
          <a:ln>
            <a:solidFill>
              <a:srgbClr val="9BBB59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0B33CA3-47F2-AFF4-809B-8D22E1844D65}"/>
              </a:ext>
            </a:extLst>
          </p:cNvPr>
          <p:cNvCxnSpPr/>
          <p:nvPr/>
        </p:nvCxnSpPr>
        <p:spPr>
          <a:xfrm flipV="1">
            <a:off x="18516600" y="1467866"/>
            <a:ext cx="1676400" cy="1271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D4A2A42-877B-F03C-605E-3462729CAC3D}"/>
              </a:ext>
            </a:extLst>
          </p:cNvPr>
          <p:cNvSpPr txBox="1"/>
          <p:nvPr/>
        </p:nvSpPr>
        <p:spPr>
          <a:xfrm>
            <a:off x="20421600" y="194689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완료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4177CA-1DFD-2B5D-6434-1E365BB5234E}"/>
              </a:ext>
            </a:extLst>
          </p:cNvPr>
          <p:cNvSpPr txBox="1"/>
          <p:nvPr/>
        </p:nvSpPr>
        <p:spPr>
          <a:xfrm>
            <a:off x="20421600" y="56995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계획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DD1B04B-78F4-BEAD-5D69-F1110D64AE8E}"/>
              </a:ext>
            </a:extLst>
          </p:cNvPr>
          <p:cNvCxnSpPr/>
          <p:nvPr/>
        </p:nvCxnSpPr>
        <p:spPr>
          <a:xfrm flipV="1">
            <a:off x="18516600" y="685800"/>
            <a:ext cx="1676400" cy="12712"/>
          </a:xfrm>
          <a:prstGeom prst="line">
            <a:avLst/>
          </a:prstGeom>
          <a:ln>
            <a:solidFill>
              <a:srgbClr val="F2F2F2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655A487-CF52-0DAC-837B-C96441D9D70B}"/>
              </a:ext>
            </a:extLst>
          </p:cNvPr>
          <p:cNvSpPr txBox="1"/>
          <p:nvPr/>
        </p:nvSpPr>
        <p:spPr>
          <a:xfrm>
            <a:off x="20421600" y="912594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진행중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8C4F99-8DE3-E359-ADBA-27C994AAFFAE}"/>
              </a:ext>
            </a:extLst>
          </p:cNvPr>
          <p:cNvSpPr txBox="1"/>
          <p:nvPr/>
        </p:nvSpPr>
        <p:spPr>
          <a:xfrm>
            <a:off x="20421600" y="127480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초과</a:t>
            </a:r>
          </a:p>
        </p:txBody>
      </p:sp>
    </p:spTree>
    <p:extLst>
      <p:ext uri="{BB962C8B-B14F-4D97-AF65-F5344CB8AC3E}">
        <p14:creationId xmlns:p14="http://schemas.microsoft.com/office/powerpoint/2010/main" val="2132879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사용자 지정</PresentationFormat>
  <Slides>14</Slides>
  <Notes>0</Notes>
  <HiddenSlides>0</HiddenSlide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created xsi:type="dcterms:W3CDTF">2006-08-16T00:00:00Z</dcterms:created>
  <dcterms:modified xsi:type="dcterms:W3CDTF">2026-05-20T14:02:55Z</dcterms:modified>
</cp:coreProperties>
</file>