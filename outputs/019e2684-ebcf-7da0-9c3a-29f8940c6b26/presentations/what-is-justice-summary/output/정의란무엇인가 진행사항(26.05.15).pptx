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55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800" y="18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 idx="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318e40c5572e4bd3" Type="http://schemas.openxmlformats.org/officeDocument/2006/relationships/slideMaster" Target="../slideMasters/slideMaster1.xml" 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 ?><Relationships xmlns="http://schemas.openxmlformats.org/package/2006/relationships"><Relationship Id="R2bb39acdaea14b5f" Type="http://schemas.openxmlformats.org/officeDocument/2006/relationships/slideLayout" Target="../slideLayouts/slideLayout1.xml"  /><Relationship Id="R8f0c4d3904dd428a" Type="http://schemas.openxmlformats.org/officeDocument/2006/relationships/theme" Target="../theme/theme1.xml" 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39acdaea14b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09600" y="485775"/>
            <a:ext cx="266700" cy="28575"/>
          </a:xfrm>
          <a:prstGeom prst="rect">
            <a:avLst/>
          </a:prstGeom>
          <a:solidFill>
            <a:srgbClr val="c9a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0096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rPr>
              <a:t>진행 현황</a:t>
            </a:r>
            <a:endParaRPr sz="1125" b="1">
              <a:solidFill>
                <a:srgbClr val="c9a2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09600" y="838200"/>
            <a:ext cx="9525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rPr>
              <a:t>오브젝트와의 상호작용과 맵 이동 구현중입니다.</a:t>
            </a:r>
            <a:endParaRPr sz="2550" b="1">
              <a:solidFill>
                <a:srgbClr val="17171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17526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사물, NPC, 단서 획득 기능을 구현중이며, 아래 화면 흐름으로 현재 루프를 확인할 수 있습니다.</a:t>
            </a:r>
            <a:endParaRPr sz="1350" b="0">
              <a:solidFill>
                <a:srgbClr val="6f6a6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76275" y="2600325"/>
            <a:ext cx="3009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43660" y="2647950"/>
            <a:ext cx="2275129" cy="1276350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/>
        </p:nvSpPr>
        <p:spPr>
          <a:xfrm>
            <a:off x="723900" y="2324100"/>
            <a:ext cx="400050" cy="247650"/>
          </a:xfrm>
          <a:prstGeom prst="rect">
            <a:avLst/>
          </a:prstGeom>
          <a:solidFill>
            <a:srgbClr val="c9a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723900" y="237172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sz="975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1238250" y="2428875"/>
            <a:ext cx="247650" cy="28575"/>
          </a:xfrm>
          <a:prstGeom prst="rect">
            <a:avLst/>
          </a:prstGeom>
          <a:solidFill>
            <a:srgbClr val="c9a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1600200" y="23526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rPr>
              <a:t>화면</a:t>
            </a:r>
            <a:endParaRPr sz="1200" b="1">
              <a:solidFill>
                <a:srgbClr val="c9a2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4429125" y="2600325"/>
            <a:ext cx="3009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97696" y="2647950"/>
            <a:ext cx="2272757" cy="1276350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/>
        </p:nvSpPr>
        <p:spPr>
          <a:xfrm>
            <a:off x="4476750" y="2324100"/>
            <a:ext cx="400050" cy="247650"/>
          </a:xfrm>
          <a:prstGeom prst="rect">
            <a:avLst/>
          </a:prstGeom>
          <a:solidFill>
            <a:srgbClr val="c9a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4476750" y="237172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sz="975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4991100" y="2428875"/>
            <a:ext cx="247650" cy="28575"/>
          </a:xfrm>
          <a:prstGeom prst="rect">
            <a:avLst/>
          </a:prstGeom>
          <a:solidFill>
            <a:srgbClr val="c9a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5353050" y="23526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rPr>
              <a:t>단서칸</a:t>
            </a:r>
            <a:endParaRPr sz="1200" b="1">
              <a:solidFill>
                <a:srgbClr val="c9a2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8181975" y="2600325"/>
            <a:ext cx="3009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9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547919" y="2647950"/>
            <a:ext cx="2278012" cy="1276350"/>
          </a:xfrm>
          <a:prstGeom prst="rect">
            <a:avLst/>
          </a:prstGeom>
        </p:spPr>
      </p:pic>
      <p:sp>
        <p:nvSpPr>
          <p:cNvPr id="20" name=""/>
          <p:cNvSpPr>
            <a:spLocks noGrp="1"/>
          </p:cNvSpPr>
          <p:nvPr/>
        </p:nvSpPr>
        <p:spPr>
          <a:xfrm>
            <a:off x="8229600" y="2324100"/>
            <a:ext cx="400050" cy="247650"/>
          </a:xfrm>
          <a:prstGeom prst="rect">
            <a:avLst/>
          </a:prstGeom>
          <a:solidFill>
            <a:srgbClr val="5f56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8229600" y="237172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sz="975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8743950" y="2428875"/>
            <a:ext cx="247650" cy="28575"/>
          </a:xfrm>
          <a:prstGeom prst="rect">
            <a:avLst/>
          </a:prstGeom>
          <a:solidFill>
            <a:srgbClr val="5f56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9105900" y="23526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f5666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5f5666"/>
                </a:solidFill>
                <a:latin typeface="맑은 고딕"/>
                <a:ea typeface="맑은 고딕"/>
                <a:cs typeface="맑은 고딕"/>
              </a:rPr>
              <a:t>마우스 오버</a:t>
            </a:r>
            <a:endParaRPr sz="1200" b="1">
              <a:solidFill>
                <a:srgbClr val="5f566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676275" y="4295775"/>
            <a:ext cx="3009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25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41797" y="4343400"/>
            <a:ext cx="2278856" cy="1276350"/>
          </a:xfrm>
          <a:prstGeom prst="rect">
            <a:avLst/>
          </a:prstGeom>
        </p:spPr>
      </p:pic>
      <p:sp>
        <p:nvSpPr>
          <p:cNvPr id="26" name=""/>
          <p:cNvSpPr>
            <a:spLocks noGrp="1"/>
          </p:cNvSpPr>
          <p:nvPr/>
        </p:nvSpPr>
        <p:spPr>
          <a:xfrm>
            <a:off x="723900" y="4019550"/>
            <a:ext cx="400050" cy="247650"/>
          </a:xfrm>
          <a:prstGeom prst="rect">
            <a:avLst/>
          </a:prstGeom>
          <a:solidFill>
            <a:srgbClr val="5f56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723900" y="40671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  <a:endParaRPr sz="975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1238250" y="4124325"/>
            <a:ext cx="247650" cy="28575"/>
          </a:xfrm>
          <a:prstGeom prst="rect">
            <a:avLst/>
          </a:prstGeom>
          <a:solidFill>
            <a:srgbClr val="5f56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1600200" y="40481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f5666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5f5666"/>
                </a:solidFill>
                <a:latin typeface="맑은 고딕"/>
                <a:ea typeface="맑은 고딕"/>
                <a:cs typeface="맑은 고딕"/>
              </a:rPr>
              <a:t>조사</a:t>
            </a:r>
            <a:endParaRPr sz="1200" b="1">
              <a:solidFill>
                <a:srgbClr val="5f566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4429125" y="4295775"/>
            <a:ext cx="3009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31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791324" y="4343400"/>
            <a:ext cx="2285501" cy="1276350"/>
          </a:xfrm>
          <a:prstGeom prst="rect">
            <a:avLst/>
          </a:prstGeom>
        </p:spPr>
      </p:pic>
      <p:sp>
        <p:nvSpPr>
          <p:cNvPr id="32" name=""/>
          <p:cNvSpPr>
            <a:spLocks noGrp="1"/>
          </p:cNvSpPr>
          <p:nvPr/>
        </p:nvSpPr>
        <p:spPr>
          <a:xfrm>
            <a:off x="4476750" y="4019550"/>
            <a:ext cx="400050" cy="247650"/>
          </a:xfrm>
          <a:prstGeom prst="rect">
            <a:avLst/>
          </a:prstGeom>
          <a:solidFill>
            <a:srgbClr val="5f56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3" name=""/>
          <p:cNvSpPr>
            <a:spLocks noGrp="1"/>
          </p:cNvSpPr>
          <p:nvPr/>
        </p:nvSpPr>
        <p:spPr>
          <a:xfrm>
            <a:off x="4476750" y="40671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  <a:endParaRPr sz="975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" name=""/>
          <p:cNvSpPr>
            <a:spLocks noGrp="1"/>
          </p:cNvSpPr>
          <p:nvPr/>
        </p:nvSpPr>
        <p:spPr>
          <a:xfrm>
            <a:off x="4991100" y="4124325"/>
            <a:ext cx="247650" cy="28575"/>
          </a:xfrm>
          <a:prstGeom prst="rect">
            <a:avLst/>
          </a:prstGeom>
          <a:solidFill>
            <a:srgbClr val="5f56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5" name=""/>
          <p:cNvSpPr>
            <a:spLocks noGrp="1"/>
          </p:cNvSpPr>
          <p:nvPr/>
        </p:nvSpPr>
        <p:spPr>
          <a:xfrm>
            <a:off x="5353050" y="40481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f5666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5f5666"/>
                </a:solidFill>
                <a:latin typeface="맑은 고딕"/>
                <a:ea typeface="맑은 고딕"/>
                <a:cs typeface="맑은 고딕"/>
              </a:rPr>
              <a:t>단서 획득</a:t>
            </a:r>
            <a:endParaRPr sz="1200" b="1">
              <a:solidFill>
                <a:srgbClr val="5f566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6" name=""/>
          <p:cNvSpPr>
            <a:spLocks noGrp="1"/>
          </p:cNvSpPr>
          <p:nvPr/>
        </p:nvSpPr>
        <p:spPr>
          <a:xfrm>
            <a:off x="8181975" y="4295775"/>
            <a:ext cx="3009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37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551471" y="4343400"/>
            <a:ext cx="2270908" cy="1276350"/>
          </a:xfrm>
          <a:prstGeom prst="rect">
            <a:avLst/>
          </a:prstGeom>
        </p:spPr>
      </p:pic>
      <p:sp>
        <p:nvSpPr>
          <p:cNvPr id="38" name=""/>
          <p:cNvSpPr>
            <a:spLocks noGrp="1"/>
          </p:cNvSpPr>
          <p:nvPr/>
        </p:nvSpPr>
        <p:spPr>
          <a:xfrm>
            <a:off x="8229600" y="4019550"/>
            <a:ext cx="400050" cy="247650"/>
          </a:xfrm>
          <a:prstGeom prst="rect">
            <a:avLst/>
          </a:prstGeom>
          <a:solidFill>
            <a:srgbClr val="5f56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9" name=""/>
          <p:cNvSpPr>
            <a:spLocks noGrp="1"/>
          </p:cNvSpPr>
          <p:nvPr/>
        </p:nvSpPr>
        <p:spPr>
          <a:xfrm>
            <a:off x="8229600" y="40671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06</a:t>
            </a:r>
            <a:endParaRPr sz="975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"/>
          <p:cNvSpPr>
            <a:spLocks noGrp="1"/>
          </p:cNvSpPr>
          <p:nvPr/>
        </p:nvSpPr>
        <p:spPr>
          <a:xfrm>
            <a:off x="8743950" y="4124325"/>
            <a:ext cx="247650" cy="28575"/>
          </a:xfrm>
          <a:prstGeom prst="rect">
            <a:avLst/>
          </a:prstGeom>
          <a:solidFill>
            <a:srgbClr val="5f56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1" name=""/>
          <p:cNvSpPr>
            <a:spLocks noGrp="1"/>
          </p:cNvSpPr>
          <p:nvPr/>
        </p:nvSpPr>
        <p:spPr>
          <a:xfrm>
            <a:off x="9105900" y="40481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f5666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5f5666"/>
                </a:solidFill>
                <a:latin typeface="맑은 고딕"/>
                <a:ea typeface="맑은 고딕"/>
                <a:cs typeface="맑은 고딕"/>
              </a:rPr>
              <a:t>NPC 탐문</a:t>
            </a:r>
            <a:endParaRPr sz="1200" b="1">
              <a:solidFill>
                <a:srgbClr val="5f566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" name=""/>
          <p:cNvSpPr>
            <a:spLocks noGrp="1"/>
          </p:cNvSpPr>
          <p:nvPr/>
        </p:nvSpPr>
        <p:spPr>
          <a:xfrm>
            <a:off x="609600" y="6400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rPr>
              <a:t>정의란 무엇인가</a:t>
            </a:r>
            <a:r>
              <a:rPr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rPr>
              <a:t> prototype / 01</a:t>
            </a:r>
            <a:endParaRPr sz="825" b="0">
              <a:solidFill>
                <a:srgbClr val="9a918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4" name=""/>
          <p:cNvSpPr>
            <a:spLocks noGrp="1"/>
          </p:cNvSpPr>
          <p:nvPr/>
        </p:nvSpPr>
        <p:spPr>
          <a:xfrm>
            <a:off x="9873049" y="1461441"/>
            <a:ext cx="247650" cy="28575"/>
          </a:xfrm>
          <a:prstGeom prst="rect">
            <a:avLst/>
          </a:prstGeom>
          <a:solidFill>
            <a:srgbClr val="c9a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" name=""/>
          <p:cNvSpPr>
            <a:spLocks noGrp="1"/>
          </p:cNvSpPr>
          <p:nvPr/>
        </p:nvSpPr>
        <p:spPr>
          <a:xfrm>
            <a:off x="10234999" y="1385241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200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rPr>
              <a:t>기본 화면</a:t>
            </a:r>
            <a:endParaRPr lang="ko-KR" altLang="en-US" sz="1200" b="1">
              <a:solidFill>
                <a:srgbClr val="c9a2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" name=""/>
          <p:cNvSpPr>
            <a:spLocks noGrp="1"/>
          </p:cNvSpPr>
          <p:nvPr/>
        </p:nvSpPr>
        <p:spPr>
          <a:xfrm>
            <a:off x="9881029" y="1763927"/>
            <a:ext cx="247650" cy="28575"/>
          </a:xfrm>
          <a:prstGeom prst="rect">
            <a:avLst/>
          </a:prstGeom>
          <a:solidFill>
            <a:srgbClr val="5f56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7" name=""/>
          <p:cNvSpPr>
            <a:spLocks noGrp="1"/>
          </p:cNvSpPr>
          <p:nvPr/>
        </p:nvSpPr>
        <p:spPr>
          <a:xfrm>
            <a:off x="10242979" y="1687727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f5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200" b="1">
                <a:solidFill>
                  <a:srgbClr val="5f5666"/>
                </a:solidFill>
                <a:latin typeface="맑은 고딕"/>
                <a:ea typeface="맑은 고딕"/>
                <a:cs typeface="맑은 고딕"/>
              </a:rPr>
              <a:t>상호작용</a:t>
            </a:r>
            <a:endParaRPr lang="ko-KR" altLang="en-US" sz="1200" b="1">
              <a:solidFill>
                <a:srgbClr val="5f5666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09600" y="485775"/>
            <a:ext cx="266700" cy="28575"/>
          </a:xfrm>
          <a:prstGeom prst="rect">
            <a:avLst/>
          </a:prstGeom>
          <a:solidFill>
            <a:srgbClr val="c9a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0096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rPr>
              <a:t>화면과 단서 노트</a:t>
            </a:r>
            <a:endParaRPr sz="1125" b="1">
              <a:solidFill>
                <a:srgbClr val="c9a2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09600" y="838200"/>
            <a:ext cx="9525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rPr>
              <a:t>플레이어는 화면 좌측 하단의 N키 안내로 단서 노트를 확인합니다.</a:t>
            </a:r>
            <a:endParaRPr sz="2550" b="1">
              <a:solidFill>
                <a:srgbClr val="17171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17526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기본 화면에는 </a:t>
            </a:r>
            <a:r>
              <a:rPr lang="ko-KR" altLang="en-US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상호작용 오브젝트들</a:t>
            </a:r>
            <a:r>
              <a: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과 노트 힌트가 있고, N키를 누르면 획득한 </a:t>
            </a:r>
            <a:r>
              <a:rPr lang="ko-KR" altLang="en-US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증거</a:t>
            </a:r>
            <a:r>
              <a: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와 </a:t>
            </a:r>
            <a:r>
              <a:rPr lang="ko-KR" altLang="en-US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키워드</a:t>
            </a:r>
            <a:r>
              <a: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를 한 곳에서 볼 수 있습니다.</a:t>
            </a:r>
            <a:endParaRPr lang="ko-KR" altLang="en-US" sz="1350" b="0">
              <a:solidFill>
                <a:srgbClr val="6f6a6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560430" y="2616801"/>
            <a:ext cx="4495800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8055" y="2668319"/>
            <a:ext cx="4400550" cy="2468713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/>
        </p:nvSpPr>
        <p:spPr>
          <a:xfrm>
            <a:off x="5532480" y="2616801"/>
            <a:ext cx="4495800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580105" y="2667031"/>
            <a:ext cx="4400550" cy="2471290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/>
        </p:nvSpPr>
        <p:spPr>
          <a:xfrm>
            <a:off x="609600" y="6400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rPr>
              <a:t>정의란 무엇인가</a:t>
            </a:r>
            <a:r>
              <a:rPr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rPr>
              <a:t> prototype / 02</a:t>
            </a:r>
            <a:endParaRPr sz="825" b="0">
              <a:solidFill>
                <a:srgbClr val="9a9184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09600" y="485775"/>
            <a:ext cx="266700" cy="28575"/>
          </a:xfrm>
          <a:prstGeom prst="rect">
            <a:avLst/>
          </a:prstGeom>
          <a:solidFill>
            <a:srgbClr val="c9a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0096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rPr>
              <a:t>조사 대상</a:t>
            </a:r>
            <a:endParaRPr sz="1125" b="1">
              <a:solidFill>
                <a:srgbClr val="c9a2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09600" y="838200"/>
            <a:ext cx="9525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rPr>
              <a:t>조사 대상은 마우스 </a:t>
            </a:r>
            <a:r>
              <a:rPr lang="ko-KR" altLang="en-US"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rPr>
              <a:t>포인트</a:t>
            </a:r>
            <a:r>
              <a:rPr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rPr>
              <a:t>로 반응하고, 클릭 시 조사 대사를 출력합니다.</a:t>
            </a:r>
            <a:endParaRPr sz="2550" b="1">
              <a:solidFill>
                <a:srgbClr val="17171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17526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상호작용 가능한 오브젝트</a:t>
            </a:r>
            <a:r>
              <a: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lang="ko-KR" altLang="en-US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마우스포인트가 가까이 다가가면</a:t>
            </a:r>
            <a:r>
              <a: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 색상 변화</a:t>
            </a:r>
            <a:r>
              <a:rPr lang="ko-KR" altLang="en-US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이 변화합니다</a:t>
            </a:r>
            <a:r>
              <a:rPr lang="en-US" altLang="ko-KR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.</a:t>
            </a:r>
            <a:r>
              <a:rPr lang="ko-KR" altLang="en-US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ko-KR" altLang="en-US" sz="1350" b="0">
              <a:solidFill>
                <a:srgbClr val="6f6a6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InteractionManager</a:t>
            </a:r>
            <a:r>
              <a:rPr lang="ko-KR" altLang="en-US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가 해당 오브젝트의</a:t>
            </a:r>
            <a:r>
              <a: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 대사를</a:t>
            </a:r>
            <a:r>
              <a:rPr lang="ko-KR" altLang="en-US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csv</a:t>
            </a:r>
            <a:r>
              <a:rPr lang="ko-KR" altLang="en-US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 찾아 조사창에 표시합니다.</a:t>
            </a:r>
            <a:endParaRPr sz="1350" b="0">
              <a:solidFill>
                <a:srgbClr val="6f6a6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790575" y="2828925"/>
            <a:ext cx="4191000" cy="2400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38200" y="2881669"/>
            <a:ext cx="4095750" cy="2294812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/>
        </p:nvSpPr>
        <p:spPr>
          <a:xfrm>
            <a:off x="5591175" y="2828925"/>
            <a:ext cx="4191000" cy="2400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638800" y="2882094"/>
            <a:ext cx="4095750" cy="2293962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/>
        </p:nvSpPr>
        <p:spPr>
          <a:xfrm>
            <a:off x="609600" y="6400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rPr>
              <a:t>정의란 무엇인가</a:t>
            </a:r>
            <a:r>
              <a:rPr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rPr>
              <a:t> prototype / 03</a:t>
            </a:r>
            <a:endParaRPr sz="825" b="0">
              <a:solidFill>
                <a:srgbClr val="9a9184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09600" y="485775"/>
            <a:ext cx="266700" cy="28575"/>
          </a:xfrm>
          <a:prstGeom prst="rect">
            <a:avLst/>
          </a:prstGeom>
          <a:solidFill>
            <a:srgbClr val="c9a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0096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rPr>
              <a:t>단서 획득</a:t>
            </a:r>
            <a:endParaRPr sz="1125" b="1">
              <a:solidFill>
                <a:srgbClr val="c9a2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09600" y="838200"/>
            <a:ext cx="9525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rPr>
              <a:t>조사 결과는 알리바이 단서와 키워드 획득으로 이어집니다.</a:t>
            </a:r>
            <a:endParaRPr sz="2550" b="1">
              <a:solidFill>
                <a:srgbClr val="17171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17526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단서 획득 팝업은 플레이어에게 상태 변화를 알려주고, </a:t>
            </a:r>
            <a:r>
              <a:rPr lang="ko-KR" altLang="en-US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증거와 키워드를 등록시켜 필요할때마다 노트를 열어 화인할 수 있습니다</a:t>
            </a:r>
            <a:r>
              <a:rPr lang="en-US" altLang="ko-KR"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lang="en-US" altLang="ko-KR" sz="1350" b="0">
              <a:solidFill>
                <a:srgbClr val="6f6a6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809625" y="2828925"/>
            <a:ext cx="4191000" cy="2400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57250" y="2885429"/>
            <a:ext cx="4095750" cy="2287293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/>
        </p:nvSpPr>
        <p:spPr>
          <a:xfrm>
            <a:off x="5610225" y="2828925"/>
            <a:ext cx="4191000" cy="2400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657850" y="2879016"/>
            <a:ext cx="4095750" cy="2300118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/>
        </p:nvSpPr>
        <p:spPr>
          <a:xfrm>
            <a:off x="609600" y="6400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rPr>
              <a:t>정의란 무엇인가</a:t>
            </a:r>
            <a:r>
              <a:rPr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rPr>
              <a:t> prototype / 04</a:t>
            </a:r>
            <a:endParaRPr sz="825" b="0">
              <a:solidFill>
                <a:srgbClr val="9a9184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09600" y="485775"/>
            <a:ext cx="266700" cy="28575"/>
          </a:xfrm>
          <a:prstGeom prst="rect">
            <a:avLst/>
          </a:prstGeom>
          <a:solidFill>
            <a:srgbClr val="c9a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0096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rPr>
              <a:t>NPC 탐문</a:t>
            </a:r>
            <a:endParaRPr sz="1125" b="1">
              <a:solidFill>
                <a:srgbClr val="c9a2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09600" y="838200"/>
            <a:ext cx="9525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rPr>
              <a:t>NPC</a:t>
            </a:r>
            <a:r>
              <a:rPr lang="ko-KR" altLang="en-US"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rPr>
              <a:t>와의 상호작용으로 대화 또는 조사를 할 수있습니다</a:t>
            </a:r>
            <a:r>
              <a:rPr lang="en-US" altLang="ko-KR"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lang="en-US" altLang="ko-KR" sz="2550" b="1">
              <a:solidFill>
                <a:srgbClr val="17171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17526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목격자를 클릭하면 선택창이 뜨고, 조사하기를 선택하면 보유 키워드 목록을 기반으로 NPC 응답을 결정합니다.</a:t>
            </a:r>
            <a:endParaRPr sz="1350" b="0">
              <a:solidFill>
                <a:srgbClr val="6f6a6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828675" y="2771775"/>
            <a:ext cx="5048250" cy="287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78527" y="2819400"/>
            <a:ext cx="4948547" cy="2781300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/>
        </p:nvSpPr>
        <p:spPr>
          <a:xfrm>
            <a:off x="609600" y="6400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rPr>
              <a:t>정의란 무엇인가</a:t>
            </a:r>
            <a:r>
              <a:rPr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rPr>
              <a:t> prototype / 05</a:t>
            </a:r>
            <a:endParaRPr sz="825" b="0">
              <a:solidFill>
                <a:srgbClr val="9a9184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09600" y="485775"/>
            <a:ext cx="266700" cy="28575"/>
          </a:xfrm>
          <a:prstGeom prst="rect">
            <a:avLst/>
          </a:prstGeom>
          <a:solidFill>
            <a:srgbClr val="c9a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009650" y="4191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c9a24b"/>
                </a:solidFill>
                <a:latin typeface="맑은 고딕"/>
                <a:ea typeface="맑은 고딕"/>
                <a:cs typeface="맑은 고딕"/>
              </a:rPr>
              <a:t>화면 전환</a:t>
            </a:r>
            <a:endParaRPr sz="1125" b="1">
              <a:solidFill>
                <a:srgbClr val="c9a2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09600" y="838200"/>
            <a:ext cx="9525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71717"/>
                </a:solidFill>
                <a:latin typeface="맑은 고딕"/>
                <a:ea typeface="맑은 고딕"/>
                <a:cs typeface="맑은 고딕"/>
              </a:rPr>
              <a:t>화면 전환은 맵 이동/장소 확장을 위한 기반으로 준비되어 있습니다.</a:t>
            </a:r>
            <a:endParaRPr sz="2550" b="1">
              <a:solidFill>
                <a:srgbClr val="17171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17526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f6a61"/>
                </a:solidFill>
                <a:latin typeface="맑은 고딕"/>
                <a:ea typeface="맑은 고딕"/>
                <a:cs typeface="맑은 고딕"/>
              </a:rPr>
              <a:t>마지막 이미지는 화면 전환 상태를 보여줍니다. 이후 사건 장소가 늘어나면 MapArea와 전환 매니저를 통해 자연스럽게 확장할 수 있습니다.</a:t>
            </a:r>
            <a:endParaRPr sz="1350" b="0">
              <a:solidFill>
                <a:srgbClr val="6f6a6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923925" y="2828925"/>
            <a:ext cx="5429250" cy="3095625"/>
          </a:xfrm>
          <a:prstGeom prst="rect">
            <a:avLst/>
          </a:prstGeom>
          <a:solidFill>
            <a:srgbClr val="ffffff"/>
          </a:solidFill>
          <a:ln w="9525">
            <a:solidFill>
              <a:srgbClr val="dcd2c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71550" y="2877421"/>
            <a:ext cx="5334000" cy="2998633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/>
        </p:nvSpPr>
        <p:spPr>
          <a:xfrm>
            <a:off x="609600" y="6400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rPr>
              <a:t>정의란 무엇인가</a:t>
            </a:r>
            <a:r>
              <a:rPr sz="825" b="0">
                <a:solidFill>
                  <a:srgbClr val="9a9184"/>
                </a:solidFill>
                <a:latin typeface="맑은 고딕"/>
                <a:ea typeface="맑은 고딕"/>
                <a:cs typeface="맑은 고딕"/>
              </a:rPr>
              <a:t> prototype / 06</a:t>
            </a:r>
            <a:endParaRPr sz="825" b="0">
              <a:solidFill>
                <a:srgbClr val="9a9184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ns3:AlternateContent>
    <ns3:Choice Requires="p14">
      <p:transition ns3:Ignorable="p14" ns4:dur="500"/>
    </ns3:Choice>
    <ns3:Fallback>
      <p:transition/>
    </ns3:Fallback>
  </ns3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203</ep:Words>
  <ep:PresentationFormat>Converted Presentation</ep:PresentationFormat>
  <ep:Paragraphs>39</ep:Paragraphs>
  <ep:Slides>6</ep:Slides>
  <ep:Notes>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ChatGPT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dell1</cp:lastModifiedBy>
  <dcterms:modified xsi:type="dcterms:W3CDTF">2026-05-15T04:27:45.692</dcterms:modified>
  <cp:revision>14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